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1" r:id="rId8"/>
    <p:sldId id="262" r:id="rId9"/>
    <p:sldId id="263" r:id="rId10"/>
    <p:sldId id="264" r:id="rId11"/>
    <p:sldId id="265" r:id="rId12"/>
    <p:sldId id="267" r:id="rId13"/>
    <p:sldId id="268" r:id="rId14"/>
    <p:sldId id="269" r:id="rId15"/>
    <p:sldId id="271"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D46FB9-50C5-4171-898F-7A7C72905FA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CAF5843-57BE-4B00-B009-29461C9413F6}">
      <dgm:prSet/>
      <dgm:spPr/>
      <dgm:t>
        <a:bodyPr/>
        <a:lstStyle/>
        <a:p>
          <a:r>
            <a:rPr lang="en-US"/>
            <a:t>A special challenge that I wanted to follow was following the fundamentals of the translation field so my research is applicable there</a:t>
          </a:r>
        </a:p>
      </dgm:t>
    </dgm:pt>
    <dgm:pt modelId="{48EF1ED4-E377-47C9-9322-8314875F6A04}" type="parTrans" cxnId="{EAF7D88A-7D33-4E16-A9F0-91ADD4FDFB23}">
      <dgm:prSet/>
      <dgm:spPr/>
      <dgm:t>
        <a:bodyPr/>
        <a:lstStyle/>
        <a:p>
          <a:endParaRPr lang="en-US"/>
        </a:p>
      </dgm:t>
    </dgm:pt>
    <dgm:pt modelId="{C4034DE1-30D0-4560-85F8-50725EF2869E}" type="sibTrans" cxnId="{EAF7D88A-7D33-4E16-A9F0-91ADD4FDFB23}">
      <dgm:prSet/>
      <dgm:spPr/>
      <dgm:t>
        <a:bodyPr/>
        <a:lstStyle/>
        <a:p>
          <a:endParaRPr lang="en-US"/>
        </a:p>
      </dgm:t>
    </dgm:pt>
    <dgm:pt modelId="{F33B1480-1445-4457-A625-9FB6BE1EF7C5}">
      <dgm:prSet/>
      <dgm:spPr/>
      <dgm:t>
        <a:bodyPr/>
        <a:lstStyle/>
        <a:p>
          <a:r>
            <a:rPr lang="en-US"/>
            <a:t>You should </a:t>
          </a:r>
          <a:r>
            <a:rPr lang="en-US" i="1"/>
            <a:t>never</a:t>
          </a:r>
          <a:r>
            <a:rPr lang="en-US"/>
            <a:t> translate from your most proficient language into a secondary language</a:t>
          </a:r>
        </a:p>
      </dgm:t>
    </dgm:pt>
    <dgm:pt modelId="{C18E6976-173F-4EC7-B36B-E943FC17C0B0}" type="parTrans" cxnId="{52912156-C989-4759-8DC9-C1169772347A}">
      <dgm:prSet/>
      <dgm:spPr/>
      <dgm:t>
        <a:bodyPr/>
        <a:lstStyle/>
        <a:p>
          <a:endParaRPr lang="en-US"/>
        </a:p>
      </dgm:t>
    </dgm:pt>
    <dgm:pt modelId="{BB5467B7-4F32-4AFF-8FC2-773C5BD7FE00}" type="sibTrans" cxnId="{52912156-C989-4759-8DC9-C1169772347A}">
      <dgm:prSet/>
      <dgm:spPr/>
      <dgm:t>
        <a:bodyPr/>
        <a:lstStyle/>
        <a:p>
          <a:endParaRPr lang="en-US"/>
        </a:p>
      </dgm:t>
    </dgm:pt>
    <dgm:pt modelId="{833C93E0-928B-41CD-98C7-4227493485BC}">
      <dgm:prSet/>
      <dgm:spPr/>
      <dgm:t>
        <a:bodyPr/>
        <a:lstStyle/>
        <a:p>
          <a:r>
            <a:rPr lang="en-US"/>
            <a:t>Your target language should always be your most proficient language</a:t>
          </a:r>
        </a:p>
      </dgm:t>
    </dgm:pt>
    <dgm:pt modelId="{7074AE2A-B1FF-427C-8A0B-1B7689F8BDC5}" type="parTrans" cxnId="{58E447F9-069F-422C-9E18-3AB49B7DB488}">
      <dgm:prSet/>
      <dgm:spPr/>
      <dgm:t>
        <a:bodyPr/>
        <a:lstStyle/>
        <a:p>
          <a:endParaRPr lang="en-US"/>
        </a:p>
      </dgm:t>
    </dgm:pt>
    <dgm:pt modelId="{DFC2FCE7-7E01-4EDE-BB27-600745BAB1A8}" type="sibTrans" cxnId="{58E447F9-069F-422C-9E18-3AB49B7DB488}">
      <dgm:prSet/>
      <dgm:spPr/>
      <dgm:t>
        <a:bodyPr/>
        <a:lstStyle/>
        <a:p>
          <a:endParaRPr lang="en-US"/>
        </a:p>
      </dgm:t>
    </dgm:pt>
    <dgm:pt modelId="{AF975124-002D-4B68-A864-6D5AFED2718B}" type="pres">
      <dgm:prSet presAssocID="{3CD46FB9-50C5-4171-898F-7A7C72905FAF}" presName="linear" presStyleCnt="0">
        <dgm:presLayoutVars>
          <dgm:animLvl val="lvl"/>
          <dgm:resizeHandles val="exact"/>
        </dgm:presLayoutVars>
      </dgm:prSet>
      <dgm:spPr/>
    </dgm:pt>
    <dgm:pt modelId="{EC3115CD-62F2-4517-832D-4713566B57F7}" type="pres">
      <dgm:prSet presAssocID="{6CAF5843-57BE-4B00-B009-29461C9413F6}" presName="parentText" presStyleLbl="node1" presStyleIdx="0" presStyleCnt="3">
        <dgm:presLayoutVars>
          <dgm:chMax val="0"/>
          <dgm:bulletEnabled val="1"/>
        </dgm:presLayoutVars>
      </dgm:prSet>
      <dgm:spPr/>
    </dgm:pt>
    <dgm:pt modelId="{B8DB2B4E-112A-48C5-B0CF-AE87A0D3CEE5}" type="pres">
      <dgm:prSet presAssocID="{C4034DE1-30D0-4560-85F8-50725EF2869E}" presName="spacer" presStyleCnt="0"/>
      <dgm:spPr/>
    </dgm:pt>
    <dgm:pt modelId="{F76F6296-0CE3-4FAE-81A5-6C5D1BEF7F17}" type="pres">
      <dgm:prSet presAssocID="{F33B1480-1445-4457-A625-9FB6BE1EF7C5}" presName="parentText" presStyleLbl="node1" presStyleIdx="1" presStyleCnt="3">
        <dgm:presLayoutVars>
          <dgm:chMax val="0"/>
          <dgm:bulletEnabled val="1"/>
        </dgm:presLayoutVars>
      </dgm:prSet>
      <dgm:spPr/>
    </dgm:pt>
    <dgm:pt modelId="{F6DA4248-1965-4A14-854A-4A6556C14B91}" type="pres">
      <dgm:prSet presAssocID="{BB5467B7-4F32-4AFF-8FC2-773C5BD7FE00}" presName="spacer" presStyleCnt="0"/>
      <dgm:spPr/>
    </dgm:pt>
    <dgm:pt modelId="{1749F9F5-E36C-4806-8201-704BC1D8914B}" type="pres">
      <dgm:prSet presAssocID="{833C93E0-928B-41CD-98C7-4227493485BC}" presName="parentText" presStyleLbl="node1" presStyleIdx="2" presStyleCnt="3">
        <dgm:presLayoutVars>
          <dgm:chMax val="0"/>
          <dgm:bulletEnabled val="1"/>
        </dgm:presLayoutVars>
      </dgm:prSet>
      <dgm:spPr/>
    </dgm:pt>
  </dgm:ptLst>
  <dgm:cxnLst>
    <dgm:cxn modelId="{A3C40806-A3C8-492B-B9AD-9455F27C49AB}" type="presOf" srcId="{3CD46FB9-50C5-4171-898F-7A7C72905FAF}" destId="{AF975124-002D-4B68-A864-6D5AFED2718B}" srcOrd="0" destOrd="0" presId="urn:microsoft.com/office/officeart/2005/8/layout/vList2"/>
    <dgm:cxn modelId="{57471360-F3CB-448D-B926-91F9F140BB09}" type="presOf" srcId="{833C93E0-928B-41CD-98C7-4227493485BC}" destId="{1749F9F5-E36C-4806-8201-704BC1D8914B}" srcOrd="0" destOrd="0" presId="urn:microsoft.com/office/officeart/2005/8/layout/vList2"/>
    <dgm:cxn modelId="{8DFCDF6F-0846-499E-A977-B04224F4ECE0}" type="presOf" srcId="{F33B1480-1445-4457-A625-9FB6BE1EF7C5}" destId="{F76F6296-0CE3-4FAE-81A5-6C5D1BEF7F17}" srcOrd="0" destOrd="0" presId="urn:microsoft.com/office/officeart/2005/8/layout/vList2"/>
    <dgm:cxn modelId="{52912156-C989-4759-8DC9-C1169772347A}" srcId="{3CD46FB9-50C5-4171-898F-7A7C72905FAF}" destId="{F33B1480-1445-4457-A625-9FB6BE1EF7C5}" srcOrd="1" destOrd="0" parTransId="{C18E6976-173F-4EC7-B36B-E943FC17C0B0}" sibTransId="{BB5467B7-4F32-4AFF-8FC2-773C5BD7FE00}"/>
    <dgm:cxn modelId="{EAF7D88A-7D33-4E16-A9F0-91ADD4FDFB23}" srcId="{3CD46FB9-50C5-4171-898F-7A7C72905FAF}" destId="{6CAF5843-57BE-4B00-B009-29461C9413F6}" srcOrd="0" destOrd="0" parTransId="{48EF1ED4-E377-47C9-9322-8314875F6A04}" sibTransId="{C4034DE1-30D0-4560-85F8-50725EF2869E}"/>
    <dgm:cxn modelId="{1D9F0DE4-84B7-4D2D-B815-CB1F1459AB75}" type="presOf" srcId="{6CAF5843-57BE-4B00-B009-29461C9413F6}" destId="{EC3115CD-62F2-4517-832D-4713566B57F7}" srcOrd="0" destOrd="0" presId="urn:microsoft.com/office/officeart/2005/8/layout/vList2"/>
    <dgm:cxn modelId="{58E447F9-069F-422C-9E18-3AB49B7DB488}" srcId="{3CD46FB9-50C5-4171-898F-7A7C72905FAF}" destId="{833C93E0-928B-41CD-98C7-4227493485BC}" srcOrd="2" destOrd="0" parTransId="{7074AE2A-B1FF-427C-8A0B-1B7689F8BDC5}" sibTransId="{DFC2FCE7-7E01-4EDE-BB27-600745BAB1A8}"/>
    <dgm:cxn modelId="{EA5C47F0-5D90-404F-901E-1F6161EE2223}" type="presParOf" srcId="{AF975124-002D-4B68-A864-6D5AFED2718B}" destId="{EC3115CD-62F2-4517-832D-4713566B57F7}" srcOrd="0" destOrd="0" presId="urn:microsoft.com/office/officeart/2005/8/layout/vList2"/>
    <dgm:cxn modelId="{21E7AFF1-FADE-49ED-97C7-2B0667A7048A}" type="presParOf" srcId="{AF975124-002D-4B68-A864-6D5AFED2718B}" destId="{B8DB2B4E-112A-48C5-B0CF-AE87A0D3CEE5}" srcOrd="1" destOrd="0" presId="urn:microsoft.com/office/officeart/2005/8/layout/vList2"/>
    <dgm:cxn modelId="{C3E50AF1-C5EC-4558-9B6B-F944F85A94EE}" type="presParOf" srcId="{AF975124-002D-4B68-A864-6D5AFED2718B}" destId="{F76F6296-0CE3-4FAE-81A5-6C5D1BEF7F17}" srcOrd="2" destOrd="0" presId="urn:microsoft.com/office/officeart/2005/8/layout/vList2"/>
    <dgm:cxn modelId="{95E15306-DFE1-4C27-9915-9DFADD6DBC75}" type="presParOf" srcId="{AF975124-002D-4B68-A864-6D5AFED2718B}" destId="{F6DA4248-1965-4A14-854A-4A6556C14B91}" srcOrd="3" destOrd="0" presId="urn:microsoft.com/office/officeart/2005/8/layout/vList2"/>
    <dgm:cxn modelId="{60570619-CED7-44E4-BBC6-8272C14D7A64}" type="presParOf" srcId="{AF975124-002D-4B68-A864-6D5AFED2718B}" destId="{1749F9F5-E36C-4806-8201-704BC1D8914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A4A500-AFB7-47E5-B4F2-D13F932ADBA8}"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F6E98248-BEE8-4BBD-9B77-85392112ED55}">
      <dgm:prSet/>
      <dgm:spPr/>
      <dgm:t>
        <a:bodyPr/>
        <a:lstStyle/>
        <a:p>
          <a:r>
            <a:rPr lang="en-US"/>
            <a:t>Not much machine translation research is done with Japanese and English specifically, though a lot of it is concerned with differing language groups</a:t>
          </a:r>
        </a:p>
      </dgm:t>
    </dgm:pt>
    <dgm:pt modelId="{127BFC1C-A88B-4151-98D7-9049BF12C41A}" type="parTrans" cxnId="{7BC1FC5B-4D05-41B7-A068-02CB793D9ED4}">
      <dgm:prSet/>
      <dgm:spPr/>
      <dgm:t>
        <a:bodyPr/>
        <a:lstStyle/>
        <a:p>
          <a:endParaRPr lang="en-US"/>
        </a:p>
      </dgm:t>
    </dgm:pt>
    <dgm:pt modelId="{BB2C6248-3E1A-4220-8F2F-565AD43A4FEA}" type="sibTrans" cxnId="{7BC1FC5B-4D05-41B7-A068-02CB793D9ED4}">
      <dgm:prSet/>
      <dgm:spPr/>
      <dgm:t>
        <a:bodyPr/>
        <a:lstStyle/>
        <a:p>
          <a:endParaRPr lang="en-US"/>
        </a:p>
      </dgm:t>
    </dgm:pt>
    <dgm:pt modelId="{13953EE6-725D-4F9E-8B55-1BA023ABDAF4}">
      <dgm:prSet/>
      <dgm:spPr/>
      <dgm:t>
        <a:bodyPr/>
        <a:lstStyle/>
        <a:p>
          <a:r>
            <a:rPr lang="en-US" dirty="0"/>
            <a:t>There is very little concern given to this specific grammatical issue, or issues unique to JP-&gt;ENG translation</a:t>
          </a:r>
        </a:p>
      </dgm:t>
    </dgm:pt>
    <dgm:pt modelId="{DD64E906-9E0F-45CB-9EC1-673C8980D6FB}" type="parTrans" cxnId="{A307BADB-DB0C-4A68-8086-93E963099FF0}">
      <dgm:prSet/>
      <dgm:spPr/>
      <dgm:t>
        <a:bodyPr/>
        <a:lstStyle/>
        <a:p>
          <a:endParaRPr lang="en-US"/>
        </a:p>
      </dgm:t>
    </dgm:pt>
    <dgm:pt modelId="{D324DECE-2153-4693-80E6-C6011824A521}" type="sibTrans" cxnId="{A307BADB-DB0C-4A68-8086-93E963099FF0}">
      <dgm:prSet/>
      <dgm:spPr/>
      <dgm:t>
        <a:bodyPr/>
        <a:lstStyle/>
        <a:p>
          <a:endParaRPr lang="en-US"/>
        </a:p>
      </dgm:t>
    </dgm:pt>
    <dgm:pt modelId="{74D49E4B-2147-487D-9EB6-FCF9FF552F21}">
      <dgm:prSet/>
      <dgm:spPr/>
      <dgm:t>
        <a:bodyPr/>
        <a:lstStyle/>
        <a:p>
          <a:r>
            <a:rPr lang="en-US"/>
            <a:t>Not much of the research is made with professional translators in mind, and a lot of it disregards translation fundamentals</a:t>
          </a:r>
        </a:p>
      </dgm:t>
    </dgm:pt>
    <dgm:pt modelId="{8995083C-AEE3-4B11-9A80-5BC9C03E6CA9}" type="parTrans" cxnId="{DC3AD798-721D-4704-8B1B-143485352042}">
      <dgm:prSet/>
      <dgm:spPr/>
      <dgm:t>
        <a:bodyPr/>
        <a:lstStyle/>
        <a:p>
          <a:endParaRPr lang="en-US"/>
        </a:p>
      </dgm:t>
    </dgm:pt>
    <dgm:pt modelId="{ED8F8412-76D9-4EC0-9E3B-422936B12059}" type="sibTrans" cxnId="{DC3AD798-721D-4704-8B1B-143485352042}">
      <dgm:prSet/>
      <dgm:spPr/>
      <dgm:t>
        <a:bodyPr/>
        <a:lstStyle/>
        <a:p>
          <a:endParaRPr lang="en-US"/>
        </a:p>
      </dgm:t>
    </dgm:pt>
    <dgm:pt modelId="{08D21BE7-2DFF-4204-B89D-84AAB5DE722F}">
      <dgm:prSet/>
      <dgm:spPr/>
      <dgm:t>
        <a:bodyPr/>
        <a:lstStyle/>
        <a:p>
          <a:r>
            <a:rPr lang="en-US" dirty="0"/>
            <a:t>Most researchers jumped ship to LLM translation recently, though this was partially due to NMT</a:t>
          </a:r>
        </a:p>
      </dgm:t>
    </dgm:pt>
    <dgm:pt modelId="{B5055749-A725-4CD7-B3A9-41C1F9404AE1}" type="parTrans" cxnId="{F8988AC2-A807-4030-9C92-657ABF98B2A0}">
      <dgm:prSet/>
      <dgm:spPr/>
      <dgm:t>
        <a:bodyPr/>
        <a:lstStyle/>
        <a:p>
          <a:endParaRPr lang="en-US"/>
        </a:p>
      </dgm:t>
    </dgm:pt>
    <dgm:pt modelId="{7B545BE2-A3D4-4E7D-8B90-6B8E2692ACAA}" type="sibTrans" cxnId="{F8988AC2-A807-4030-9C92-657ABF98B2A0}">
      <dgm:prSet/>
      <dgm:spPr/>
      <dgm:t>
        <a:bodyPr/>
        <a:lstStyle/>
        <a:p>
          <a:endParaRPr lang="en-US"/>
        </a:p>
      </dgm:t>
    </dgm:pt>
    <dgm:pt modelId="{EFE59BD1-3B6F-46CC-8E7D-9D5D78494D9D}" type="pres">
      <dgm:prSet presAssocID="{46A4A500-AFB7-47E5-B4F2-D13F932ADBA8}" presName="vert0" presStyleCnt="0">
        <dgm:presLayoutVars>
          <dgm:dir/>
          <dgm:animOne val="branch"/>
          <dgm:animLvl val="lvl"/>
        </dgm:presLayoutVars>
      </dgm:prSet>
      <dgm:spPr/>
    </dgm:pt>
    <dgm:pt modelId="{70E3D9FF-A7E8-4B81-9C22-2FD017C3CFD0}" type="pres">
      <dgm:prSet presAssocID="{F6E98248-BEE8-4BBD-9B77-85392112ED55}" presName="thickLine" presStyleLbl="alignNode1" presStyleIdx="0" presStyleCnt="4"/>
      <dgm:spPr/>
    </dgm:pt>
    <dgm:pt modelId="{77F0B3F7-8F6E-4858-AA59-877428943615}" type="pres">
      <dgm:prSet presAssocID="{F6E98248-BEE8-4BBD-9B77-85392112ED55}" presName="horz1" presStyleCnt="0"/>
      <dgm:spPr/>
    </dgm:pt>
    <dgm:pt modelId="{0298F91A-9FC7-4DED-99C3-4DB734614290}" type="pres">
      <dgm:prSet presAssocID="{F6E98248-BEE8-4BBD-9B77-85392112ED55}" presName="tx1" presStyleLbl="revTx" presStyleIdx="0" presStyleCnt="4"/>
      <dgm:spPr/>
    </dgm:pt>
    <dgm:pt modelId="{629BF6EF-7F31-475D-8111-76A198DEB7EC}" type="pres">
      <dgm:prSet presAssocID="{F6E98248-BEE8-4BBD-9B77-85392112ED55}" presName="vert1" presStyleCnt="0"/>
      <dgm:spPr/>
    </dgm:pt>
    <dgm:pt modelId="{EEDAE508-18BF-49EA-A384-929DCD6B988C}" type="pres">
      <dgm:prSet presAssocID="{13953EE6-725D-4F9E-8B55-1BA023ABDAF4}" presName="thickLine" presStyleLbl="alignNode1" presStyleIdx="1" presStyleCnt="4"/>
      <dgm:spPr/>
    </dgm:pt>
    <dgm:pt modelId="{376D61DF-9419-4936-BCE0-4519AB1756DC}" type="pres">
      <dgm:prSet presAssocID="{13953EE6-725D-4F9E-8B55-1BA023ABDAF4}" presName="horz1" presStyleCnt="0"/>
      <dgm:spPr/>
    </dgm:pt>
    <dgm:pt modelId="{5FA53B30-622A-4B6A-B984-57439CF2921E}" type="pres">
      <dgm:prSet presAssocID="{13953EE6-725D-4F9E-8B55-1BA023ABDAF4}" presName="tx1" presStyleLbl="revTx" presStyleIdx="1" presStyleCnt="4"/>
      <dgm:spPr/>
    </dgm:pt>
    <dgm:pt modelId="{6CDC3F71-3F74-4466-A28F-D19E7B6DFB08}" type="pres">
      <dgm:prSet presAssocID="{13953EE6-725D-4F9E-8B55-1BA023ABDAF4}" presName="vert1" presStyleCnt="0"/>
      <dgm:spPr/>
    </dgm:pt>
    <dgm:pt modelId="{C3C64CBF-0492-416A-BD5B-28CB83BD99D5}" type="pres">
      <dgm:prSet presAssocID="{74D49E4B-2147-487D-9EB6-FCF9FF552F21}" presName="thickLine" presStyleLbl="alignNode1" presStyleIdx="2" presStyleCnt="4"/>
      <dgm:spPr/>
    </dgm:pt>
    <dgm:pt modelId="{3942E438-A38A-4DC8-B43B-39995658B79E}" type="pres">
      <dgm:prSet presAssocID="{74D49E4B-2147-487D-9EB6-FCF9FF552F21}" presName="horz1" presStyleCnt="0"/>
      <dgm:spPr/>
    </dgm:pt>
    <dgm:pt modelId="{EFD3344E-858B-4F92-9157-BCA616521138}" type="pres">
      <dgm:prSet presAssocID="{74D49E4B-2147-487D-9EB6-FCF9FF552F21}" presName="tx1" presStyleLbl="revTx" presStyleIdx="2" presStyleCnt="4"/>
      <dgm:spPr/>
    </dgm:pt>
    <dgm:pt modelId="{C3D1B0CF-D383-4562-8420-D3673D73AF82}" type="pres">
      <dgm:prSet presAssocID="{74D49E4B-2147-487D-9EB6-FCF9FF552F21}" presName="vert1" presStyleCnt="0"/>
      <dgm:spPr/>
    </dgm:pt>
    <dgm:pt modelId="{0CAF7C2E-977C-49E6-931C-FB52D79AB81B}" type="pres">
      <dgm:prSet presAssocID="{08D21BE7-2DFF-4204-B89D-84AAB5DE722F}" presName="thickLine" presStyleLbl="alignNode1" presStyleIdx="3" presStyleCnt="4"/>
      <dgm:spPr/>
    </dgm:pt>
    <dgm:pt modelId="{E918CBDE-DCD9-417F-AC86-5688DE3A122C}" type="pres">
      <dgm:prSet presAssocID="{08D21BE7-2DFF-4204-B89D-84AAB5DE722F}" presName="horz1" presStyleCnt="0"/>
      <dgm:spPr/>
    </dgm:pt>
    <dgm:pt modelId="{E44C5E7E-7481-434C-8ECD-516C3EB8944E}" type="pres">
      <dgm:prSet presAssocID="{08D21BE7-2DFF-4204-B89D-84AAB5DE722F}" presName="tx1" presStyleLbl="revTx" presStyleIdx="3" presStyleCnt="4"/>
      <dgm:spPr/>
    </dgm:pt>
    <dgm:pt modelId="{A7D5E42A-AD69-4EC3-83F5-45A101B4E4A2}" type="pres">
      <dgm:prSet presAssocID="{08D21BE7-2DFF-4204-B89D-84AAB5DE722F}" presName="vert1" presStyleCnt="0"/>
      <dgm:spPr/>
    </dgm:pt>
  </dgm:ptLst>
  <dgm:cxnLst>
    <dgm:cxn modelId="{785E841A-B283-4097-8DAF-8465E40FB1A9}" type="presOf" srcId="{13953EE6-725D-4F9E-8B55-1BA023ABDAF4}" destId="{5FA53B30-622A-4B6A-B984-57439CF2921E}" srcOrd="0" destOrd="0" presId="urn:microsoft.com/office/officeart/2008/layout/LinedList"/>
    <dgm:cxn modelId="{7BC1FC5B-4D05-41B7-A068-02CB793D9ED4}" srcId="{46A4A500-AFB7-47E5-B4F2-D13F932ADBA8}" destId="{F6E98248-BEE8-4BBD-9B77-85392112ED55}" srcOrd="0" destOrd="0" parTransId="{127BFC1C-A88B-4151-98D7-9049BF12C41A}" sibTransId="{BB2C6248-3E1A-4220-8F2F-565AD43A4FEA}"/>
    <dgm:cxn modelId="{DC3AD798-721D-4704-8B1B-143485352042}" srcId="{46A4A500-AFB7-47E5-B4F2-D13F932ADBA8}" destId="{74D49E4B-2147-487D-9EB6-FCF9FF552F21}" srcOrd="2" destOrd="0" parTransId="{8995083C-AEE3-4B11-9A80-5BC9C03E6CA9}" sibTransId="{ED8F8412-76D9-4EC0-9E3B-422936B12059}"/>
    <dgm:cxn modelId="{A71574C1-8A4A-4BA5-92D0-753871CEE7A0}" type="presOf" srcId="{46A4A500-AFB7-47E5-B4F2-D13F932ADBA8}" destId="{EFE59BD1-3B6F-46CC-8E7D-9D5D78494D9D}" srcOrd="0" destOrd="0" presId="urn:microsoft.com/office/officeart/2008/layout/LinedList"/>
    <dgm:cxn modelId="{F8988AC2-A807-4030-9C92-657ABF98B2A0}" srcId="{46A4A500-AFB7-47E5-B4F2-D13F932ADBA8}" destId="{08D21BE7-2DFF-4204-B89D-84AAB5DE722F}" srcOrd="3" destOrd="0" parTransId="{B5055749-A725-4CD7-B3A9-41C1F9404AE1}" sibTransId="{7B545BE2-A3D4-4E7D-8B90-6B8E2692ACAA}"/>
    <dgm:cxn modelId="{77CF82C7-F078-4727-994A-3DB0518CF6FB}" type="presOf" srcId="{74D49E4B-2147-487D-9EB6-FCF9FF552F21}" destId="{EFD3344E-858B-4F92-9157-BCA616521138}" srcOrd="0" destOrd="0" presId="urn:microsoft.com/office/officeart/2008/layout/LinedList"/>
    <dgm:cxn modelId="{C162BCCE-DCBD-469C-A148-55436BBAD780}" type="presOf" srcId="{F6E98248-BEE8-4BBD-9B77-85392112ED55}" destId="{0298F91A-9FC7-4DED-99C3-4DB734614290}" srcOrd="0" destOrd="0" presId="urn:microsoft.com/office/officeart/2008/layout/LinedList"/>
    <dgm:cxn modelId="{A307BADB-DB0C-4A68-8086-93E963099FF0}" srcId="{46A4A500-AFB7-47E5-B4F2-D13F932ADBA8}" destId="{13953EE6-725D-4F9E-8B55-1BA023ABDAF4}" srcOrd="1" destOrd="0" parTransId="{DD64E906-9E0F-45CB-9EC1-673C8980D6FB}" sibTransId="{D324DECE-2153-4693-80E6-C6011824A521}"/>
    <dgm:cxn modelId="{5BFC24E2-B791-47C4-A1B2-70DE23725AAF}" type="presOf" srcId="{08D21BE7-2DFF-4204-B89D-84AAB5DE722F}" destId="{E44C5E7E-7481-434C-8ECD-516C3EB8944E}" srcOrd="0" destOrd="0" presId="urn:microsoft.com/office/officeart/2008/layout/LinedList"/>
    <dgm:cxn modelId="{667BE25F-6877-49B7-A56B-CFA149BAC218}" type="presParOf" srcId="{EFE59BD1-3B6F-46CC-8E7D-9D5D78494D9D}" destId="{70E3D9FF-A7E8-4B81-9C22-2FD017C3CFD0}" srcOrd="0" destOrd="0" presId="urn:microsoft.com/office/officeart/2008/layout/LinedList"/>
    <dgm:cxn modelId="{27C9B928-11DD-4E5F-A8DE-D2CCD9506AC1}" type="presParOf" srcId="{EFE59BD1-3B6F-46CC-8E7D-9D5D78494D9D}" destId="{77F0B3F7-8F6E-4858-AA59-877428943615}" srcOrd="1" destOrd="0" presId="urn:microsoft.com/office/officeart/2008/layout/LinedList"/>
    <dgm:cxn modelId="{EAF54C32-B741-43D5-B8D0-169B347C19E6}" type="presParOf" srcId="{77F0B3F7-8F6E-4858-AA59-877428943615}" destId="{0298F91A-9FC7-4DED-99C3-4DB734614290}" srcOrd="0" destOrd="0" presId="urn:microsoft.com/office/officeart/2008/layout/LinedList"/>
    <dgm:cxn modelId="{700D2E89-028F-4884-A7F6-9C4C0935B101}" type="presParOf" srcId="{77F0B3F7-8F6E-4858-AA59-877428943615}" destId="{629BF6EF-7F31-475D-8111-76A198DEB7EC}" srcOrd="1" destOrd="0" presId="urn:microsoft.com/office/officeart/2008/layout/LinedList"/>
    <dgm:cxn modelId="{27539F50-E1BA-4555-97E6-00D503FE1B28}" type="presParOf" srcId="{EFE59BD1-3B6F-46CC-8E7D-9D5D78494D9D}" destId="{EEDAE508-18BF-49EA-A384-929DCD6B988C}" srcOrd="2" destOrd="0" presId="urn:microsoft.com/office/officeart/2008/layout/LinedList"/>
    <dgm:cxn modelId="{16071C65-3859-4772-8BEE-285087D2FEA1}" type="presParOf" srcId="{EFE59BD1-3B6F-46CC-8E7D-9D5D78494D9D}" destId="{376D61DF-9419-4936-BCE0-4519AB1756DC}" srcOrd="3" destOrd="0" presId="urn:microsoft.com/office/officeart/2008/layout/LinedList"/>
    <dgm:cxn modelId="{78D64E1D-511B-4F96-93B5-EFDDA0724049}" type="presParOf" srcId="{376D61DF-9419-4936-BCE0-4519AB1756DC}" destId="{5FA53B30-622A-4B6A-B984-57439CF2921E}" srcOrd="0" destOrd="0" presId="urn:microsoft.com/office/officeart/2008/layout/LinedList"/>
    <dgm:cxn modelId="{71D7515F-DA09-42CE-99EE-8B6DBC0EAFF3}" type="presParOf" srcId="{376D61DF-9419-4936-BCE0-4519AB1756DC}" destId="{6CDC3F71-3F74-4466-A28F-D19E7B6DFB08}" srcOrd="1" destOrd="0" presId="urn:microsoft.com/office/officeart/2008/layout/LinedList"/>
    <dgm:cxn modelId="{810AC178-F1AF-4D11-A13B-9E489333DD01}" type="presParOf" srcId="{EFE59BD1-3B6F-46CC-8E7D-9D5D78494D9D}" destId="{C3C64CBF-0492-416A-BD5B-28CB83BD99D5}" srcOrd="4" destOrd="0" presId="urn:microsoft.com/office/officeart/2008/layout/LinedList"/>
    <dgm:cxn modelId="{D0439E03-A8B4-4A1C-B899-584288561CDE}" type="presParOf" srcId="{EFE59BD1-3B6F-46CC-8E7D-9D5D78494D9D}" destId="{3942E438-A38A-4DC8-B43B-39995658B79E}" srcOrd="5" destOrd="0" presId="urn:microsoft.com/office/officeart/2008/layout/LinedList"/>
    <dgm:cxn modelId="{E1ADC21F-0595-4BF8-B149-F1DCD896BEDD}" type="presParOf" srcId="{3942E438-A38A-4DC8-B43B-39995658B79E}" destId="{EFD3344E-858B-4F92-9157-BCA616521138}" srcOrd="0" destOrd="0" presId="urn:microsoft.com/office/officeart/2008/layout/LinedList"/>
    <dgm:cxn modelId="{951B1B1D-5490-4BBF-BA94-1815B2DEFE19}" type="presParOf" srcId="{3942E438-A38A-4DC8-B43B-39995658B79E}" destId="{C3D1B0CF-D383-4562-8420-D3673D73AF82}" srcOrd="1" destOrd="0" presId="urn:microsoft.com/office/officeart/2008/layout/LinedList"/>
    <dgm:cxn modelId="{C62CDE8E-928E-4367-83C6-FF84C74A4F05}" type="presParOf" srcId="{EFE59BD1-3B6F-46CC-8E7D-9D5D78494D9D}" destId="{0CAF7C2E-977C-49E6-931C-FB52D79AB81B}" srcOrd="6" destOrd="0" presId="urn:microsoft.com/office/officeart/2008/layout/LinedList"/>
    <dgm:cxn modelId="{5E6CCE0F-9477-4E7B-961C-FA2E4E4C411A}" type="presParOf" srcId="{EFE59BD1-3B6F-46CC-8E7D-9D5D78494D9D}" destId="{E918CBDE-DCD9-417F-AC86-5688DE3A122C}" srcOrd="7" destOrd="0" presId="urn:microsoft.com/office/officeart/2008/layout/LinedList"/>
    <dgm:cxn modelId="{82F50239-AF01-4982-82EE-BA47525663D7}" type="presParOf" srcId="{E918CBDE-DCD9-417F-AC86-5688DE3A122C}" destId="{E44C5E7E-7481-434C-8ECD-516C3EB8944E}" srcOrd="0" destOrd="0" presId="urn:microsoft.com/office/officeart/2008/layout/LinedList"/>
    <dgm:cxn modelId="{663426ED-028A-4FA5-9513-41D139F8E3C6}" type="presParOf" srcId="{E918CBDE-DCD9-417F-AC86-5688DE3A122C}" destId="{A7D5E42A-AD69-4EC3-83F5-45A101B4E4A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6E5567-68A2-487A-9300-8F55C7A8836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60BC1CA-AF9C-45C1-BB33-58EAE1971879}">
      <dgm:prSet/>
      <dgm:spPr/>
      <dgm:t>
        <a:bodyPr/>
        <a:lstStyle/>
        <a:p>
          <a:r>
            <a:rPr lang="en-US"/>
            <a:t>0 numerical data – hard to measure success, results are largely based on research and proposals rather than hard data</a:t>
          </a:r>
        </a:p>
      </dgm:t>
    </dgm:pt>
    <dgm:pt modelId="{27A897A2-C36A-479A-9102-81BB91CB272B}" type="parTrans" cxnId="{372EBE4E-3A3C-421C-9EF9-92C9304635C2}">
      <dgm:prSet/>
      <dgm:spPr/>
      <dgm:t>
        <a:bodyPr/>
        <a:lstStyle/>
        <a:p>
          <a:endParaRPr lang="en-US"/>
        </a:p>
      </dgm:t>
    </dgm:pt>
    <dgm:pt modelId="{34B31241-C13B-442B-9762-C295E18E5235}" type="sibTrans" cxnId="{372EBE4E-3A3C-421C-9EF9-92C9304635C2}">
      <dgm:prSet/>
      <dgm:spPr/>
      <dgm:t>
        <a:bodyPr/>
        <a:lstStyle/>
        <a:p>
          <a:endParaRPr lang="en-US"/>
        </a:p>
      </dgm:t>
    </dgm:pt>
    <dgm:pt modelId="{ABBC0879-29B6-4E02-96AB-0712808455CE}">
      <dgm:prSet/>
      <dgm:spPr/>
      <dgm:t>
        <a:bodyPr/>
        <a:lstStyle/>
        <a:p>
          <a:r>
            <a:rPr lang="en-US"/>
            <a:t>Our model may be weak without the tuning</a:t>
          </a:r>
        </a:p>
      </dgm:t>
    </dgm:pt>
    <dgm:pt modelId="{50C80B02-E1D1-49C6-A749-ECB27F30AE6A}" type="parTrans" cxnId="{497A92AE-D70B-4C37-9DA4-94ABD6755DAB}">
      <dgm:prSet/>
      <dgm:spPr/>
      <dgm:t>
        <a:bodyPr/>
        <a:lstStyle/>
        <a:p>
          <a:endParaRPr lang="en-US"/>
        </a:p>
      </dgm:t>
    </dgm:pt>
    <dgm:pt modelId="{94A7290D-BB98-482A-952E-B94FD4D37898}" type="sibTrans" cxnId="{497A92AE-D70B-4C37-9DA4-94ABD6755DAB}">
      <dgm:prSet/>
      <dgm:spPr/>
      <dgm:t>
        <a:bodyPr/>
        <a:lstStyle/>
        <a:p>
          <a:endParaRPr lang="en-US"/>
        </a:p>
      </dgm:t>
    </dgm:pt>
    <dgm:pt modelId="{695519E9-DD74-46AE-B563-519E224C8211}">
      <dgm:prSet/>
      <dgm:spPr/>
      <dgm:t>
        <a:bodyPr/>
        <a:lstStyle/>
        <a:p>
          <a:r>
            <a:rPr lang="en-US"/>
            <a:t>My entire solution is difficult to quantify the effect of, since I can’t really collect data, so to speak</a:t>
          </a:r>
        </a:p>
      </dgm:t>
    </dgm:pt>
    <dgm:pt modelId="{7244BC96-1A56-40FE-9BC9-FD04F92EEB45}" type="parTrans" cxnId="{22D7D40C-9580-487F-B8AF-13B5DF1693B8}">
      <dgm:prSet/>
      <dgm:spPr/>
      <dgm:t>
        <a:bodyPr/>
        <a:lstStyle/>
        <a:p>
          <a:endParaRPr lang="en-US"/>
        </a:p>
      </dgm:t>
    </dgm:pt>
    <dgm:pt modelId="{F1F76EC2-F160-4696-83B1-02C8BDBAA8DD}" type="sibTrans" cxnId="{22D7D40C-9580-487F-B8AF-13B5DF1693B8}">
      <dgm:prSet/>
      <dgm:spPr/>
      <dgm:t>
        <a:bodyPr/>
        <a:lstStyle/>
        <a:p>
          <a:endParaRPr lang="en-US"/>
        </a:p>
      </dgm:t>
    </dgm:pt>
    <dgm:pt modelId="{0AB43B69-AD51-42B3-BFCA-4C31AF74F00F}" type="pres">
      <dgm:prSet presAssocID="{5A6E5567-68A2-487A-9300-8F55C7A88365}" presName="linear" presStyleCnt="0">
        <dgm:presLayoutVars>
          <dgm:animLvl val="lvl"/>
          <dgm:resizeHandles val="exact"/>
        </dgm:presLayoutVars>
      </dgm:prSet>
      <dgm:spPr/>
    </dgm:pt>
    <dgm:pt modelId="{35744853-D1D7-4800-840D-7333CBCECD74}" type="pres">
      <dgm:prSet presAssocID="{460BC1CA-AF9C-45C1-BB33-58EAE1971879}" presName="parentText" presStyleLbl="node1" presStyleIdx="0" presStyleCnt="3">
        <dgm:presLayoutVars>
          <dgm:chMax val="0"/>
          <dgm:bulletEnabled val="1"/>
        </dgm:presLayoutVars>
      </dgm:prSet>
      <dgm:spPr/>
    </dgm:pt>
    <dgm:pt modelId="{BDFE7F07-51E0-4EF2-BF6D-240EF1DC0BD1}" type="pres">
      <dgm:prSet presAssocID="{34B31241-C13B-442B-9762-C295E18E5235}" presName="spacer" presStyleCnt="0"/>
      <dgm:spPr/>
    </dgm:pt>
    <dgm:pt modelId="{626C7737-485E-4FD7-A015-2D5731C98C25}" type="pres">
      <dgm:prSet presAssocID="{ABBC0879-29B6-4E02-96AB-0712808455CE}" presName="parentText" presStyleLbl="node1" presStyleIdx="1" presStyleCnt="3">
        <dgm:presLayoutVars>
          <dgm:chMax val="0"/>
          <dgm:bulletEnabled val="1"/>
        </dgm:presLayoutVars>
      </dgm:prSet>
      <dgm:spPr/>
    </dgm:pt>
    <dgm:pt modelId="{204AB78F-72DF-49AD-91FA-3FE48122A17D}" type="pres">
      <dgm:prSet presAssocID="{94A7290D-BB98-482A-952E-B94FD4D37898}" presName="spacer" presStyleCnt="0"/>
      <dgm:spPr/>
    </dgm:pt>
    <dgm:pt modelId="{14B3547E-9270-4A24-B5AD-06EE0971719F}" type="pres">
      <dgm:prSet presAssocID="{695519E9-DD74-46AE-B563-519E224C8211}" presName="parentText" presStyleLbl="node1" presStyleIdx="2" presStyleCnt="3">
        <dgm:presLayoutVars>
          <dgm:chMax val="0"/>
          <dgm:bulletEnabled val="1"/>
        </dgm:presLayoutVars>
      </dgm:prSet>
      <dgm:spPr/>
    </dgm:pt>
  </dgm:ptLst>
  <dgm:cxnLst>
    <dgm:cxn modelId="{22D7D40C-9580-487F-B8AF-13B5DF1693B8}" srcId="{5A6E5567-68A2-487A-9300-8F55C7A88365}" destId="{695519E9-DD74-46AE-B563-519E224C8211}" srcOrd="2" destOrd="0" parTransId="{7244BC96-1A56-40FE-9BC9-FD04F92EEB45}" sibTransId="{F1F76EC2-F160-4696-83B1-02C8BDBAA8DD}"/>
    <dgm:cxn modelId="{96CF8513-991F-4500-BF9E-2F025038FDC2}" type="presOf" srcId="{695519E9-DD74-46AE-B563-519E224C8211}" destId="{14B3547E-9270-4A24-B5AD-06EE0971719F}" srcOrd="0" destOrd="0" presId="urn:microsoft.com/office/officeart/2005/8/layout/vList2"/>
    <dgm:cxn modelId="{E16B9B34-0E16-4F3D-B75A-9682AE271EB5}" type="presOf" srcId="{ABBC0879-29B6-4E02-96AB-0712808455CE}" destId="{626C7737-485E-4FD7-A015-2D5731C98C25}" srcOrd="0" destOrd="0" presId="urn:microsoft.com/office/officeart/2005/8/layout/vList2"/>
    <dgm:cxn modelId="{372EBE4E-3A3C-421C-9EF9-92C9304635C2}" srcId="{5A6E5567-68A2-487A-9300-8F55C7A88365}" destId="{460BC1CA-AF9C-45C1-BB33-58EAE1971879}" srcOrd="0" destOrd="0" parTransId="{27A897A2-C36A-479A-9102-81BB91CB272B}" sibTransId="{34B31241-C13B-442B-9762-C295E18E5235}"/>
    <dgm:cxn modelId="{497A92AE-D70B-4C37-9DA4-94ABD6755DAB}" srcId="{5A6E5567-68A2-487A-9300-8F55C7A88365}" destId="{ABBC0879-29B6-4E02-96AB-0712808455CE}" srcOrd="1" destOrd="0" parTransId="{50C80B02-E1D1-49C6-A749-ECB27F30AE6A}" sibTransId="{94A7290D-BB98-482A-952E-B94FD4D37898}"/>
    <dgm:cxn modelId="{F74D56D0-1E5F-4233-9F64-29B6C32FE583}" type="presOf" srcId="{5A6E5567-68A2-487A-9300-8F55C7A88365}" destId="{0AB43B69-AD51-42B3-BFCA-4C31AF74F00F}" srcOrd="0" destOrd="0" presId="urn:microsoft.com/office/officeart/2005/8/layout/vList2"/>
    <dgm:cxn modelId="{975BF2D4-EF9B-4CB0-B5A7-B6CB8D1B1D1A}" type="presOf" srcId="{460BC1CA-AF9C-45C1-BB33-58EAE1971879}" destId="{35744853-D1D7-4800-840D-7333CBCECD74}" srcOrd="0" destOrd="0" presId="urn:microsoft.com/office/officeart/2005/8/layout/vList2"/>
    <dgm:cxn modelId="{A9C39CF1-ACE4-4137-B478-01B1C0A576F9}" type="presParOf" srcId="{0AB43B69-AD51-42B3-BFCA-4C31AF74F00F}" destId="{35744853-D1D7-4800-840D-7333CBCECD74}" srcOrd="0" destOrd="0" presId="urn:microsoft.com/office/officeart/2005/8/layout/vList2"/>
    <dgm:cxn modelId="{9D9796E4-DE82-435F-97D4-0DE4512567F9}" type="presParOf" srcId="{0AB43B69-AD51-42B3-BFCA-4C31AF74F00F}" destId="{BDFE7F07-51E0-4EF2-BF6D-240EF1DC0BD1}" srcOrd="1" destOrd="0" presId="urn:microsoft.com/office/officeart/2005/8/layout/vList2"/>
    <dgm:cxn modelId="{00395066-6E88-498F-83FE-E71700A164E5}" type="presParOf" srcId="{0AB43B69-AD51-42B3-BFCA-4C31AF74F00F}" destId="{626C7737-485E-4FD7-A015-2D5731C98C25}" srcOrd="2" destOrd="0" presId="urn:microsoft.com/office/officeart/2005/8/layout/vList2"/>
    <dgm:cxn modelId="{EC97264B-2EA4-404F-BBBF-A141D1D8D033}" type="presParOf" srcId="{0AB43B69-AD51-42B3-BFCA-4C31AF74F00F}" destId="{204AB78F-72DF-49AD-91FA-3FE48122A17D}" srcOrd="3" destOrd="0" presId="urn:microsoft.com/office/officeart/2005/8/layout/vList2"/>
    <dgm:cxn modelId="{DDB442A9-D088-4D02-890F-80B19F264712}" type="presParOf" srcId="{0AB43B69-AD51-42B3-BFCA-4C31AF74F00F}" destId="{14B3547E-9270-4A24-B5AD-06EE0971719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06D7A0-4892-462A-8214-6AADC131614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1BCFA18-9A8A-4F65-8C02-43578B2312F0}">
      <dgm:prSet/>
      <dgm:spPr/>
      <dgm:t>
        <a:bodyPr/>
        <a:lstStyle/>
        <a:p>
          <a:r>
            <a:rPr lang="en-US" b="1"/>
            <a:t>Option 1:</a:t>
          </a:r>
          <a:r>
            <a:rPr lang="en-US"/>
            <a:t> Combined MT + LLM Approach</a:t>
          </a:r>
        </a:p>
      </dgm:t>
    </dgm:pt>
    <dgm:pt modelId="{0E9ED57A-187B-400A-A1A2-DADE96336ACE}" type="parTrans" cxnId="{EE8067FD-F0DC-4606-9E34-BC7CEAF34768}">
      <dgm:prSet/>
      <dgm:spPr/>
      <dgm:t>
        <a:bodyPr/>
        <a:lstStyle/>
        <a:p>
          <a:endParaRPr lang="en-US"/>
        </a:p>
      </dgm:t>
    </dgm:pt>
    <dgm:pt modelId="{A31D5657-66CE-43AB-B020-2DB826609B03}" type="sibTrans" cxnId="{EE8067FD-F0DC-4606-9E34-BC7CEAF34768}">
      <dgm:prSet/>
      <dgm:spPr/>
      <dgm:t>
        <a:bodyPr/>
        <a:lstStyle/>
        <a:p>
          <a:endParaRPr lang="en-US"/>
        </a:p>
      </dgm:t>
    </dgm:pt>
    <dgm:pt modelId="{6DEF0974-1037-4688-8CCE-90CEF6909205}">
      <dgm:prSet/>
      <dgm:spPr/>
      <dgm:t>
        <a:bodyPr/>
        <a:lstStyle/>
        <a:p>
          <a:r>
            <a:rPr lang="en-US"/>
            <a:t>Ask an LLM to fix our output without changing the words much, just fixing order</a:t>
          </a:r>
        </a:p>
      </dgm:t>
    </dgm:pt>
    <dgm:pt modelId="{AD08A16B-A26B-4ED2-BFB6-A5D285E0FAF9}" type="parTrans" cxnId="{95DEBD89-A8FE-45FE-9CB4-273D4BBA6F7A}">
      <dgm:prSet/>
      <dgm:spPr/>
      <dgm:t>
        <a:bodyPr/>
        <a:lstStyle/>
        <a:p>
          <a:endParaRPr lang="en-US"/>
        </a:p>
      </dgm:t>
    </dgm:pt>
    <dgm:pt modelId="{B8133A30-0531-4A08-9777-356692817FB3}" type="sibTrans" cxnId="{95DEBD89-A8FE-45FE-9CB4-273D4BBA6F7A}">
      <dgm:prSet/>
      <dgm:spPr/>
      <dgm:t>
        <a:bodyPr/>
        <a:lstStyle/>
        <a:p>
          <a:endParaRPr lang="en-US"/>
        </a:p>
      </dgm:t>
    </dgm:pt>
    <dgm:pt modelId="{C3D24895-F813-4DEB-85AF-7B5EA5F034DB}">
      <dgm:prSet/>
      <dgm:spPr/>
      <dgm:t>
        <a:bodyPr/>
        <a:lstStyle/>
        <a:p>
          <a:r>
            <a:rPr lang="en-US"/>
            <a:t>It </a:t>
          </a:r>
          <a:r>
            <a:rPr lang="en-US" i="1"/>
            <a:t>could</a:t>
          </a:r>
          <a:r>
            <a:rPr lang="en-US"/>
            <a:t> combine the strengths of both</a:t>
          </a:r>
        </a:p>
      </dgm:t>
    </dgm:pt>
    <dgm:pt modelId="{5ADCCDBA-AE91-4B97-A014-F5F393B4F44B}" type="parTrans" cxnId="{7E6CD7F4-6729-4CA2-887A-D4480ED62EBE}">
      <dgm:prSet/>
      <dgm:spPr/>
      <dgm:t>
        <a:bodyPr/>
        <a:lstStyle/>
        <a:p>
          <a:endParaRPr lang="en-US"/>
        </a:p>
      </dgm:t>
    </dgm:pt>
    <dgm:pt modelId="{1728C8E8-E9BC-4FDD-B050-4DC69342C2C2}" type="sibTrans" cxnId="{7E6CD7F4-6729-4CA2-887A-D4480ED62EBE}">
      <dgm:prSet/>
      <dgm:spPr/>
      <dgm:t>
        <a:bodyPr/>
        <a:lstStyle/>
        <a:p>
          <a:endParaRPr lang="en-US"/>
        </a:p>
      </dgm:t>
    </dgm:pt>
    <dgm:pt modelId="{6D59E35E-6BD8-4BF7-8D29-AD0F70385BE8}">
      <dgm:prSet/>
      <dgm:spPr/>
      <dgm:t>
        <a:bodyPr/>
        <a:lstStyle/>
        <a:p>
          <a:r>
            <a:rPr lang="en-US"/>
            <a:t>Downsides: Asking it to do so on an already functional sentence may result in an overcorrection, energy efficiency, &amp; I don’t like LLMs</a:t>
          </a:r>
        </a:p>
      </dgm:t>
    </dgm:pt>
    <dgm:pt modelId="{FC761EAE-7A90-4FC7-A3C0-FBF4B2C42DD9}" type="parTrans" cxnId="{8AE958E3-C880-40E1-8319-404106FFAF44}">
      <dgm:prSet/>
      <dgm:spPr/>
      <dgm:t>
        <a:bodyPr/>
        <a:lstStyle/>
        <a:p>
          <a:endParaRPr lang="en-US"/>
        </a:p>
      </dgm:t>
    </dgm:pt>
    <dgm:pt modelId="{DA870A0E-AD4C-4240-88E4-437FFA5AD605}" type="sibTrans" cxnId="{8AE958E3-C880-40E1-8319-404106FFAF44}">
      <dgm:prSet/>
      <dgm:spPr/>
      <dgm:t>
        <a:bodyPr/>
        <a:lstStyle/>
        <a:p>
          <a:endParaRPr lang="en-US"/>
        </a:p>
      </dgm:t>
    </dgm:pt>
    <dgm:pt modelId="{8669864F-CBBB-43D4-91C4-3D8AAB729924}">
      <dgm:prSet/>
      <dgm:spPr/>
      <dgm:t>
        <a:bodyPr/>
        <a:lstStyle/>
        <a:p>
          <a:r>
            <a:rPr lang="en-US" b="1"/>
            <a:t>Option 2:</a:t>
          </a:r>
          <a:r>
            <a:rPr lang="en-US"/>
            <a:t> Manually creating a translation guide</a:t>
          </a:r>
        </a:p>
      </dgm:t>
    </dgm:pt>
    <dgm:pt modelId="{1E6A7768-6BE0-4DF3-BA0A-C748AC22979F}" type="parTrans" cxnId="{E4AAE422-0985-4B06-8D59-E27F08AE3675}">
      <dgm:prSet/>
      <dgm:spPr/>
      <dgm:t>
        <a:bodyPr/>
        <a:lstStyle/>
        <a:p>
          <a:endParaRPr lang="en-US"/>
        </a:p>
      </dgm:t>
    </dgm:pt>
    <dgm:pt modelId="{B8C9B91A-0FF0-4FB4-8081-416AAEF4C81E}" type="sibTrans" cxnId="{E4AAE422-0985-4B06-8D59-E27F08AE3675}">
      <dgm:prSet/>
      <dgm:spPr/>
      <dgm:t>
        <a:bodyPr/>
        <a:lstStyle/>
        <a:p>
          <a:endParaRPr lang="en-US"/>
        </a:p>
      </dgm:t>
    </dgm:pt>
    <dgm:pt modelId="{627E7A41-E532-480C-8A7B-509E40D873C3}">
      <dgm:prSet/>
      <dgm:spPr/>
      <dgm:t>
        <a:bodyPr/>
        <a:lstStyle/>
        <a:p>
          <a:r>
            <a:rPr lang="en-US"/>
            <a:t>Since we are building this solution with professional translators in mind, we can refocus the model output to give an emphasis on their own ability to assemble sentences when given the necessary parts</a:t>
          </a:r>
        </a:p>
      </dgm:t>
    </dgm:pt>
    <dgm:pt modelId="{8F6E34DC-327F-4E19-823E-AF6185600ADD}" type="parTrans" cxnId="{06A5B88E-0D0D-49EB-8760-4D714242A98A}">
      <dgm:prSet/>
      <dgm:spPr/>
      <dgm:t>
        <a:bodyPr/>
        <a:lstStyle/>
        <a:p>
          <a:endParaRPr lang="en-US"/>
        </a:p>
      </dgm:t>
    </dgm:pt>
    <dgm:pt modelId="{F906D187-F92B-40A4-8AEE-7C5B03A66416}" type="sibTrans" cxnId="{06A5B88E-0D0D-49EB-8760-4D714242A98A}">
      <dgm:prSet/>
      <dgm:spPr/>
      <dgm:t>
        <a:bodyPr/>
        <a:lstStyle/>
        <a:p>
          <a:endParaRPr lang="en-US"/>
        </a:p>
      </dgm:t>
    </dgm:pt>
    <dgm:pt modelId="{E7C65ACE-B204-49DC-9A42-915DADCD6053}">
      <dgm:prSet/>
      <dgm:spPr/>
      <dgm:t>
        <a:bodyPr/>
        <a:lstStyle/>
        <a:p>
          <a:r>
            <a:rPr lang="en-US"/>
            <a:t>Downsides: Success hard to test or quantify</a:t>
          </a:r>
        </a:p>
      </dgm:t>
    </dgm:pt>
    <dgm:pt modelId="{E56FC04E-29FA-419D-905D-E9A865A4B8AD}" type="parTrans" cxnId="{67B0378D-4E8A-47BE-A657-D47BE42C2509}">
      <dgm:prSet/>
      <dgm:spPr/>
      <dgm:t>
        <a:bodyPr/>
        <a:lstStyle/>
        <a:p>
          <a:endParaRPr lang="en-US"/>
        </a:p>
      </dgm:t>
    </dgm:pt>
    <dgm:pt modelId="{C99FBE67-C111-4DD4-BAAF-C1E485968F14}" type="sibTrans" cxnId="{67B0378D-4E8A-47BE-A657-D47BE42C2509}">
      <dgm:prSet/>
      <dgm:spPr/>
      <dgm:t>
        <a:bodyPr/>
        <a:lstStyle/>
        <a:p>
          <a:endParaRPr lang="en-US"/>
        </a:p>
      </dgm:t>
    </dgm:pt>
    <dgm:pt modelId="{261C745D-6EDC-44AD-AD98-30A4D6BB2EAC}" type="pres">
      <dgm:prSet presAssocID="{B306D7A0-4892-462A-8214-6AADC1316145}" presName="linear" presStyleCnt="0">
        <dgm:presLayoutVars>
          <dgm:animLvl val="lvl"/>
          <dgm:resizeHandles val="exact"/>
        </dgm:presLayoutVars>
      </dgm:prSet>
      <dgm:spPr/>
    </dgm:pt>
    <dgm:pt modelId="{65D22F58-B4CC-4A4C-96A2-9DF9B4DAD3D2}" type="pres">
      <dgm:prSet presAssocID="{21BCFA18-9A8A-4F65-8C02-43578B2312F0}" presName="parentText" presStyleLbl="node1" presStyleIdx="0" presStyleCnt="2">
        <dgm:presLayoutVars>
          <dgm:chMax val="0"/>
          <dgm:bulletEnabled val="1"/>
        </dgm:presLayoutVars>
      </dgm:prSet>
      <dgm:spPr/>
    </dgm:pt>
    <dgm:pt modelId="{5090D859-94FE-41EB-BF92-0770874C9C33}" type="pres">
      <dgm:prSet presAssocID="{21BCFA18-9A8A-4F65-8C02-43578B2312F0}" presName="childText" presStyleLbl="revTx" presStyleIdx="0" presStyleCnt="2">
        <dgm:presLayoutVars>
          <dgm:bulletEnabled val="1"/>
        </dgm:presLayoutVars>
      </dgm:prSet>
      <dgm:spPr/>
    </dgm:pt>
    <dgm:pt modelId="{CF17A152-1969-4C16-9B17-367D6957350C}" type="pres">
      <dgm:prSet presAssocID="{8669864F-CBBB-43D4-91C4-3D8AAB729924}" presName="parentText" presStyleLbl="node1" presStyleIdx="1" presStyleCnt="2">
        <dgm:presLayoutVars>
          <dgm:chMax val="0"/>
          <dgm:bulletEnabled val="1"/>
        </dgm:presLayoutVars>
      </dgm:prSet>
      <dgm:spPr/>
    </dgm:pt>
    <dgm:pt modelId="{2814D9FF-1AA0-4581-A30F-CECECDBAE3DC}" type="pres">
      <dgm:prSet presAssocID="{8669864F-CBBB-43D4-91C4-3D8AAB729924}" presName="childText" presStyleLbl="revTx" presStyleIdx="1" presStyleCnt="2">
        <dgm:presLayoutVars>
          <dgm:bulletEnabled val="1"/>
        </dgm:presLayoutVars>
      </dgm:prSet>
      <dgm:spPr/>
    </dgm:pt>
  </dgm:ptLst>
  <dgm:cxnLst>
    <dgm:cxn modelId="{E4AAE422-0985-4B06-8D59-E27F08AE3675}" srcId="{B306D7A0-4892-462A-8214-6AADC1316145}" destId="{8669864F-CBBB-43D4-91C4-3D8AAB729924}" srcOrd="1" destOrd="0" parTransId="{1E6A7768-6BE0-4DF3-BA0A-C748AC22979F}" sibTransId="{B8C9B91A-0FF0-4FB4-8081-416AAEF4C81E}"/>
    <dgm:cxn modelId="{156A6728-5E42-4DF8-BA7B-9BEC5B300C4D}" type="presOf" srcId="{6D59E35E-6BD8-4BF7-8D29-AD0F70385BE8}" destId="{5090D859-94FE-41EB-BF92-0770874C9C33}" srcOrd="0" destOrd="2" presId="urn:microsoft.com/office/officeart/2005/8/layout/vList2"/>
    <dgm:cxn modelId="{C9AA527B-D093-4272-9DF6-4132C6349CC1}" type="presOf" srcId="{6DEF0974-1037-4688-8CCE-90CEF6909205}" destId="{5090D859-94FE-41EB-BF92-0770874C9C33}" srcOrd="0" destOrd="0" presId="urn:microsoft.com/office/officeart/2005/8/layout/vList2"/>
    <dgm:cxn modelId="{95DEBD89-A8FE-45FE-9CB4-273D4BBA6F7A}" srcId="{21BCFA18-9A8A-4F65-8C02-43578B2312F0}" destId="{6DEF0974-1037-4688-8CCE-90CEF6909205}" srcOrd="0" destOrd="0" parTransId="{AD08A16B-A26B-4ED2-BFB6-A5D285E0FAF9}" sibTransId="{B8133A30-0531-4A08-9777-356692817FB3}"/>
    <dgm:cxn modelId="{67B0378D-4E8A-47BE-A657-D47BE42C2509}" srcId="{8669864F-CBBB-43D4-91C4-3D8AAB729924}" destId="{E7C65ACE-B204-49DC-9A42-915DADCD6053}" srcOrd="1" destOrd="0" parTransId="{E56FC04E-29FA-419D-905D-E9A865A4B8AD}" sibTransId="{C99FBE67-C111-4DD4-BAAF-C1E485968F14}"/>
    <dgm:cxn modelId="{06A5B88E-0D0D-49EB-8760-4D714242A98A}" srcId="{8669864F-CBBB-43D4-91C4-3D8AAB729924}" destId="{627E7A41-E532-480C-8A7B-509E40D873C3}" srcOrd="0" destOrd="0" parTransId="{8F6E34DC-327F-4E19-823E-AF6185600ADD}" sibTransId="{F906D187-F92B-40A4-8AEE-7C5B03A66416}"/>
    <dgm:cxn modelId="{8BF2EBBC-25C2-42DD-9250-38E872044DA0}" type="presOf" srcId="{B306D7A0-4892-462A-8214-6AADC1316145}" destId="{261C745D-6EDC-44AD-AD98-30A4D6BB2EAC}" srcOrd="0" destOrd="0" presId="urn:microsoft.com/office/officeart/2005/8/layout/vList2"/>
    <dgm:cxn modelId="{4DCEBBD3-661D-4277-812C-99CFD9298D89}" type="presOf" srcId="{E7C65ACE-B204-49DC-9A42-915DADCD6053}" destId="{2814D9FF-1AA0-4581-A30F-CECECDBAE3DC}" srcOrd="0" destOrd="1" presId="urn:microsoft.com/office/officeart/2005/8/layout/vList2"/>
    <dgm:cxn modelId="{2E7980E2-938A-4A8F-8527-D39A87D9F2E3}" type="presOf" srcId="{627E7A41-E532-480C-8A7B-509E40D873C3}" destId="{2814D9FF-1AA0-4581-A30F-CECECDBAE3DC}" srcOrd="0" destOrd="0" presId="urn:microsoft.com/office/officeart/2005/8/layout/vList2"/>
    <dgm:cxn modelId="{8AE958E3-C880-40E1-8319-404106FFAF44}" srcId="{21BCFA18-9A8A-4F65-8C02-43578B2312F0}" destId="{6D59E35E-6BD8-4BF7-8D29-AD0F70385BE8}" srcOrd="2" destOrd="0" parTransId="{FC761EAE-7A90-4FC7-A3C0-FBF4B2C42DD9}" sibTransId="{DA870A0E-AD4C-4240-88E4-437FFA5AD605}"/>
    <dgm:cxn modelId="{075E8CE3-1A3F-4605-87E2-3DEF8A3E64F0}" type="presOf" srcId="{C3D24895-F813-4DEB-85AF-7B5EA5F034DB}" destId="{5090D859-94FE-41EB-BF92-0770874C9C33}" srcOrd="0" destOrd="1" presId="urn:microsoft.com/office/officeart/2005/8/layout/vList2"/>
    <dgm:cxn modelId="{7E6CD7F4-6729-4CA2-887A-D4480ED62EBE}" srcId="{21BCFA18-9A8A-4F65-8C02-43578B2312F0}" destId="{C3D24895-F813-4DEB-85AF-7B5EA5F034DB}" srcOrd="1" destOrd="0" parTransId="{5ADCCDBA-AE91-4B97-A014-F5F393B4F44B}" sibTransId="{1728C8E8-E9BC-4FDD-B050-4DC69342C2C2}"/>
    <dgm:cxn modelId="{B48896F5-EF92-485C-A0D4-78644FE1EC06}" type="presOf" srcId="{8669864F-CBBB-43D4-91C4-3D8AAB729924}" destId="{CF17A152-1969-4C16-9B17-367D6957350C}" srcOrd="0" destOrd="0" presId="urn:microsoft.com/office/officeart/2005/8/layout/vList2"/>
    <dgm:cxn modelId="{393AE0FB-7C25-4F29-9699-2B879FB24F6B}" type="presOf" srcId="{21BCFA18-9A8A-4F65-8C02-43578B2312F0}" destId="{65D22F58-B4CC-4A4C-96A2-9DF9B4DAD3D2}" srcOrd="0" destOrd="0" presId="urn:microsoft.com/office/officeart/2005/8/layout/vList2"/>
    <dgm:cxn modelId="{EE8067FD-F0DC-4606-9E34-BC7CEAF34768}" srcId="{B306D7A0-4892-462A-8214-6AADC1316145}" destId="{21BCFA18-9A8A-4F65-8C02-43578B2312F0}" srcOrd="0" destOrd="0" parTransId="{0E9ED57A-187B-400A-A1A2-DADE96336ACE}" sibTransId="{A31D5657-66CE-43AB-B020-2DB826609B03}"/>
    <dgm:cxn modelId="{963F92D8-0E61-42BD-B2A8-B3D81B0D7C41}" type="presParOf" srcId="{261C745D-6EDC-44AD-AD98-30A4D6BB2EAC}" destId="{65D22F58-B4CC-4A4C-96A2-9DF9B4DAD3D2}" srcOrd="0" destOrd="0" presId="urn:microsoft.com/office/officeart/2005/8/layout/vList2"/>
    <dgm:cxn modelId="{FBC53F1F-EA19-4206-A22D-E09CAB1E4887}" type="presParOf" srcId="{261C745D-6EDC-44AD-AD98-30A4D6BB2EAC}" destId="{5090D859-94FE-41EB-BF92-0770874C9C33}" srcOrd="1" destOrd="0" presId="urn:microsoft.com/office/officeart/2005/8/layout/vList2"/>
    <dgm:cxn modelId="{F884C154-2C6F-4762-BB0C-EEBF26BE9CCA}" type="presParOf" srcId="{261C745D-6EDC-44AD-AD98-30A4D6BB2EAC}" destId="{CF17A152-1969-4C16-9B17-367D6957350C}" srcOrd="2" destOrd="0" presId="urn:microsoft.com/office/officeart/2005/8/layout/vList2"/>
    <dgm:cxn modelId="{0D051864-14D7-40C7-AACE-88C4F27ABA41}" type="presParOf" srcId="{261C745D-6EDC-44AD-AD98-30A4D6BB2EAC}" destId="{2814D9FF-1AA0-4581-A30F-CECECDBAE3D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3115CD-62F2-4517-832D-4713566B57F7}">
      <dsp:nvSpPr>
        <dsp:cNvPr id="0" name=""/>
        <dsp:cNvSpPr/>
      </dsp:nvSpPr>
      <dsp:spPr>
        <a:xfrm>
          <a:off x="0" y="633945"/>
          <a:ext cx="6900512" cy="137475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 special challenge that I wanted to follow was following the fundamentals of the translation field so my research is applicable there</a:t>
          </a:r>
        </a:p>
      </dsp:txBody>
      <dsp:txXfrm>
        <a:off x="67110" y="701055"/>
        <a:ext cx="6766292" cy="1240530"/>
      </dsp:txXfrm>
    </dsp:sp>
    <dsp:sp modelId="{F76F6296-0CE3-4FAE-81A5-6C5D1BEF7F17}">
      <dsp:nvSpPr>
        <dsp:cNvPr id="0" name=""/>
        <dsp:cNvSpPr/>
      </dsp:nvSpPr>
      <dsp:spPr>
        <a:xfrm>
          <a:off x="0" y="2080695"/>
          <a:ext cx="6900512" cy="137475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You should </a:t>
          </a:r>
          <a:r>
            <a:rPr lang="en-US" sz="2500" i="1" kern="1200"/>
            <a:t>never</a:t>
          </a:r>
          <a:r>
            <a:rPr lang="en-US" sz="2500" kern="1200"/>
            <a:t> translate from your most proficient language into a secondary language</a:t>
          </a:r>
        </a:p>
      </dsp:txBody>
      <dsp:txXfrm>
        <a:off x="67110" y="2147805"/>
        <a:ext cx="6766292" cy="1240530"/>
      </dsp:txXfrm>
    </dsp:sp>
    <dsp:sp modelId="{1749F9F5-E36C-4806-8201-704BC1D8914B}">
      <dsp:nvSpPr>
        <dsp:cNvPr id="0" name=""/>
        <dsp:cNvSpPr/>
      </dsp:nvSpPr>
      <dsp:spPr>
        <a:xfrm>
          <a:off x="0" y="3527445"/>
          <a:ext cx="6900512" cy="137475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Your target language should always be your most proficient language</a:t>
          </a:r>
        </a:p>
      </dsp:txBody>
      <dsp:txXfrm>
        <a:off x="67110" y="3594555"/>
        <a:ext cx="6766292" cy="1240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E3D9FF-A7E8-4B81-9C22-2FD017C3CFD0}">
      <dsp:nvSpPr>
        <dsp:cNvPr id="0" name=""/>
        <dsp:cNvSpPr/>
      </dsp:nvSpPr>
      <dsp:spPr>
        <a:xfrm>
          <a:off x="0" y="0"/>
          <a:ext cx="6967728"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98F91A-9FC7-4DED-99C3-4DB734614290}">
      <dsp:nvSpPr>
        <dsp:cNvPr id="0" name=""/>
        <dsp:cNvSpPr/>
      </dsp:nvSpPr>
      <dsp:spPr>
        <a:xfrm>
          <a:off x="0" y="0"/>
          <a:ext cx="696772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Not much machine translation research is done with Japanese and English specifically, though a lot of it is concerned with differing language groups</a:t>
          </a:r>
        </a:p>
      </dsp:txBody>
      <dsp:txXfrm>
        <a:off x="0" y="0"/>
        <a:ext cx="6967728" cy="1394460"/>
      </dsp:txXfrm>
    </dsp:sp>
    <dsp:sp modelId="{EEDAE508-18BF-49EA-A384-929DCD6B988C}">
      <dsp:nvSpPr>
        <dsp:cNvPr id="0" name=""/>
        <dsp:cNvSpPr/>
      </dsp:nvSpPr>
      <dsp:spPr>
        <a:xfrm>
          <a:off x="0" y="1394460"/>
          <a:ext cx="6967728"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A53B30-622A-4B6A-B984-57439CF2921E}">
      <dsp:nvSpPr>
        <dsp:cNvPr id="0" name=""/>
        <dsp:cNvSpPr/>
      </dsp:nvSpPr>
      <dsp:spPr>
        <a:xfrm>
          <a:off x="0" y="1394460"/>
          <a:ext cx="696772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There is very little concern given to this specific grammatical issue, or issues unique to JP-&gt;ENG translation</a:t>
          </a:r>
        </a:p>
      </dsp:txBody>
      <dsp:txXfrm>
        <a:off x="0" y="1394460"/>
        <a:ext cx="6967728" cy="1394460"/>
      </dsp:txXfrm>
    </dsp:sp>
    <dsp:sp modelId="{C3C64CBF-0492-416A-BD5B-28CB83BD99D5}">
      <dsp:nvSpPr>
        <dsp:cNvPr id="0" name=""/>
        <dsp:cNvSpPr/>
      </dsp:nvSpPr>
      <dsp:spPr>
        <a:xfrm>
          <a:off x="0" y="2788920"/>
          <a:ext cx="6967728"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D3344E-858B-4F92-9157-BCA616521138}">
      <dsp:nvSpPr>
        <dsp:cNvPr id="0" name=""/>
        <dsp:cNvSpPr/>
      </dsp:nvSpPr>
      <dsp:spPr>
        <a:xfrm>
          <a:off x="0" y="2788920"/>
          <a:ext cx="696772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Not much of the research is made with professional translators in mind, and a lot of it disregards translation fundamentals</a:t>
          </a:r>
        </a:p>
      </dsp:txBody>
      <dsp:txXfrm>
        <a:off x="0" y="2788920"/>
        <a:ext cx="6967728" cy="1394460"/>
      </dsp:txXfrm>
    </dsp:sp>
    <dsp:sp modelId="{0CAF7C2E-977C-49E6-931C-FB52D79AB81B}">
      <dsp:nvSpPr>
        <dsp:cNvPr id="0" name=""/>
        <dsp:cNvSpPr/>
      </dsp:nvSpPr>
      <dsp:spPr>
        <a:xfrm>
          <a:off x="0" y="4183380"/>
          <a:ext cx="6967728"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4C5E7E-7481-434C-8ECD-516C3EB8944E}">
      <dsp:nvSpPr>
        <dsp:cNvPr id="0" name=""/>
        <dsp:cNvSpPr/>
      </dsp:nvSpPr>
      <dsp:spPr>
        <a:xfrm>
          <a:off x="0" y="4183380"/>
          <a:ext cx="696772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Most researchers jumped ship to LLM translation recently, though this was partially due to NMT</a:t>
          </a:r>
        </a:p>
      </dsp:txBody>
      <dsp:txXfrm>
        <a:off x="0" y="4183380"/>
        <a:ext cx="6967728" cy="1394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44853-D1D7-4800-840D-7333CBCECD74}">
      <dsp:nvSpPr>
        <dsp:cNvPr id="0" name=""/>
        <dsp:cNvSpPr/>
      </dsp:nvSpPr>
      <dsp:spPr>
        <a:xfrm>
          <a:off x="0" y="8541"/>
          <a:ext cx="6364224" cy="178425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0 numerical data – hard to measure success, results are largely based on research and proposals rather than hard data</a:t>
          </a:r>
        </a:p>
      </dsp:txBody>
      <dsp:txXfrm>
        <a:off x="87100" y="95641"/>
        <a:ext cx="6190024" cy="1610050"/>
      </dsp:txXfrm>
    </dsp:sp>
    <dsp:sp modelId="{626C7737-485E-4FD7-A015-2D5731C98C25}">
      <dsp:nvSpPr>
        <dsp:cNvPr id="0" name=""/>
        <dsp:cNvSpPr/>
      </dsp:nvSpPr>
      <dsp:spPr>
        <a:xfrm>
          <a:off x="0" y="1864791"/>
          <a:ext cx="6364224" cy="178425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Our model may be weak without the tuning</a:t>
          </a:r>
        </a:p>
      </dsp:txBody>
      <dsp:txXfrm>
        <a:off x="87100" y="1951891"/>
        <a:ext cx="6190024" cy="1610050"/>
      </dsp:txXfrm>
    </dsp:sp>
    <dsp:sp modelId="{14B3547E-9270-4A24-B5AD-06EE0971719F}">
      <dsp:nvSpPr>
        <dsp:cNvPr id="0" name=""/>
        <dsp:cNvSpPr/>
      </dsp:nvSpPr>
      <dsp:spPr>
        <a:xfrm>
          <a:off x="0" y="3721041"/>
          <a:ext cx="6364224" cy="178425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My entire solution is difficult to quantify the effect of, since I can’t really collect data, so to speak</a:t>
          </a:r>
        </a:p>
      </dsp:txBody>
      <dsp:txXfrm>
        <a:off x="87100" y="3808141"/>
        <a:ext cx="6190024" cy="16100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D22F58-B4CC-4A4C-96A2-9DF9B4DAD3D2}">
      <dsp:nvSpPr>
        <dsp:cNvPr id="0" name=""/>
        <dsp:cNvSpPr/>
      </dsp:nvSpPr>
      <dsp:spPr>
        <a:xfrm>
          <a:off x="0" y="10048"/>
          <a:ext cx="6364224" cy="103808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Option 1:</a:t>
          </a:r>
          <a:r>
            <a:rPr lang="en-US" sz="2600" kern="1200"/>
            <a:t> Combined MT + LLM Approach</a:t>
          </a:r>
        </a:p>
      </dsp:txBody>
      <dsp:txXfrm>
        <a:off x="50675" y="60723"/>
        <a:ext cx="6262874" cy="936732"/>
      </dsp:txXfrm>
    </dsp:sp>
    <dsp:sp modelId="{5090D859-94FE-41EB-BF92-0770874C9C33}">
      <dsp:nvSpPr>
        <dsp:cNvPr id="0" name=""/>
        <dsp:cNvSpPr/>
      </dsp:nvSpPr>
      <dsp:spPr>
        <a:xfrm>
          <a:off x="0" y="1048131"/>
          <a:ext cx="6364224"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Ask an LLM to fix our output without changing the words much, just fixing order</a:t>
          </a:r>
        </a:p>
        <a:p>
          <a:pPr marL="228600" lvl="1" indent="-228600" algn="l" defTabSz="889000">
            <a:lnSpc>
              <a:spcPct val="90000"/>
            </a:lnSpc>
            <a:spcBef>
              <a:spcPct val="0"/>
            </a:spcBef>
            <a:spcAft>
              <a:spcPct val="20000"/>
            </a:spcAft>
            <a:buChar char="•"/>
          </a:pPr>
          <a:r>
            <a:rPr lang="en-US" sz="2000" kern="1200"/>
            <a:t>It </a:t>
          </a:r>
          <a:r>
            <a:rPr lang="en-US" sz="2000" i="1" kern="1200"/>
            <a:t>could</a:t>
          </a:r>
          <a:r>
            <a:rPr lang="en-US" sz="2000" kern="1200"/>
            <a:t> combine the strengths of both</a:t>
          </a:r>
        </a:p>
        <a:p>
          <a:pPr marL="228600" lvl="1" indent="-228600" algn="l" defTabSz="889000">
            <a:lnSpc>
              <a:spcPct val="90000"/>
            </a:lnSpc>
            <a:spcBef>
              <a:spcPct val="0"/>
            </a:spcBef>
            <a:spcAft>
              <a:spcPct val="20000"/>
            </a:spcAft>
            <a:buChar char="•"/>
          </a:pPr>
          <a:r>
            <a:rPr lang="en-US" sz="2000" kern="1200"/>
            <a:t>Downsides: Asking it to do so on an already functional sentence may result in an overcorrection, energy efficiency, &amp; I don’t like LLMs</a:t>
          </a:r>
        </a:p>
      </dsp:txBody>
      <dsp:txXfrm>
        <a:off x="0" y="1048131"/>
        <a:ext cx="6364224" cy="1883700"/>
      </dsp:txXfrm>
    </dsp:sp>
    <dsp:sp modelId="{CF17A152-1969-4C16-9B17-367D6957350C}">
      <dsp:nvSpPr>
        <dsp:cNvPr id="0" name=""/>
        <dsp:cNvSpPr/>
      </dsp:nvSpPr>
      <dsp:spPr>
        <a:xfrm>
          <a:off x="0" y="2931831"/>
          <a:ext cx="6364224" cy="1038082"/>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Option 2:</a:t>
          </a:r>
          <a:r>
            <a:rPr lang="en-US" sz="2600" kern="1200"/>
            <a:t> Manually creating a translation guide</a:t>
          </a:r>
        </a:p>
      </dsp:txBody>
      <dsp:txXfrm>
        <a:off x="50675" y="2982506"/>
        <a:ext cx="6262874" cy="936732"/>
      </dsp:txXfrm>
    </dsp:sp>
    <dsp:sp modelId="{2814D9FF-1AA0-4581-A30F-CECECDBAE3DC}">
      <dsp:nvSpPr>
        <dsp:cNvPr id="0" name=""/>
        <dsp:cNvSpPr/>
      </dsp:nvSpPr>
      <dsp:spPr>
        <a:xfrm>
          <a:off x="0" y="3969913"/>
          <a:ext cx="6364224" cy="1533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Since we are building this solution with professional translators in mind, we can refocus the model output to give an emphasis on their own ability to assemble sentences when given the necessary parts</a:t>
          </a:r>
        </a:p>
        <a:p>
          <a:pPr marL="228600" lvl="1" indent="-228600" algn="l" defTabSz="889000">
            <a:lnSpc>
              <a:spcPct val="90000"/>
            </a:lnSpc>
            <a:spcBef>
              <a:spcPct val="0"/>
            </a:spcBef>
            <a:spcAft>
              <a:spcPct val="20000"/>
            </a:spcAft>
            <a:buChar char="•"/>
          </a:pPr>
          <a:r>
            <a:rPr lang="en-US" sz="2000" kern="1200"/>
            <a:t>Downsides: Success hard to test or quantify</a:t>
          </a:r>
        </a:p>
      </dsp:txBody>
      <dsp:txXfrm>
        <a:off x="0" y="3969913"/>
        <a:ext cx="6364224" cy="15338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908F8-E270-A03B-DFE5-24703C9C7F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C62A6E-D074-C78B-899E-4753B5BB06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FC3F44-E114-51B5-BD14-C9FB969941CD}"/>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52C349F2-2F49-A73D-AF31-7D404020E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D1FE6-A467-9B88-480E-33B7359A8535}"/>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464253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13EB-6593-8242-042E-857CB3C0E8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F9557C-1813-3F2F-76DC-48F49C46B8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012E0-A0D3-4723-A1AD-D38469B1BA26}"/>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EF52D571-B24C-AB3C-ADF8-D922F1DCF8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DB7F4-AFCA-E0F0-60C2-C0C04129D261}"/>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683641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3F5A9-C72F-A629-3EFC-D8AAC6184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91FB86-FBC9-F895-A324-849148DB17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9D22D9-2DC2-27AF-B181-9AA3DE18E455}"/>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6DD4ECEA-FB25-1FEA-7C23-147B3AFD7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4360-01DB-0374-0C52-9A3278D5F077}"/>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1813463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AB4D0-3777-3913-E930-7336EEEC47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4AFE02-4ADE-0B1B-2844-9078256843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8149DD-6AFE-3710-224F-BC6F414FA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2244CA-01A1-3494-7077-F514113E0F6A}"/>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6" name="Footer Placeholder 5">
            <a:extLst>
              <a:ext uri="{FF2B5EF4-FFF2-40B4-BE49-F238E27FC236}">
                <a16:creationId xmlns:a16="http://schemas.microsoft.com/office/drawing/2014/main" id="{45DBEDD2-CAB4-DFF1-DEA4-FD0ED84B6C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1148DF-91D4-182B-262B-1850C51B4B80}"/>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418536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0062-7CAB-C856-488C-7BB66533D6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04D12-91E9-2CC9-10F7-8B65FD9219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6B707B-8BDA-FEC9-C965-EB1BCF5646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495159-FAC2-85E5-A3FD-2950D3D1B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8B1194-DA83-93EB-4EBB-799CAB91AD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845618-ABD8-472A-963A-1E5ECA3170F3}"/>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8" name="Footer Placeholder 7">
            <a:extLst>
              <a:ext uri="{FF2B5EF4-FFF2-40B4-BE49-F238E27FC236}">
                <a16:creationId xmlns:a16="http://schemas.microsoft.com/office/drawing/2014/main" id="{5A090871-8716-1DB5-1AFB-FAF67DCC8A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532BC7-C817-0EFD-0B54-6334E037566E}"/>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364589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335-E740-46FB-7DD0-0FC8B152CA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A8FDA2-F7EF-58B4-914F-93759576E29A}"/>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4" name="Footer Placeholder 3">
            <a:extLst>
              <a:ext uri="{FF2B5EF4-FFF2-40B4-BE49-F238E27FC236}">
                <a16:creationId xmlns:a16="http://schemas.microsoft.com/office/drawing/2014/main" id="{8624A415-37FA-65BE-4137-90B4D7506B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F92DAF-60F7-1B4B-E783-14CA8DC4BCD5}"/>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952626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EB038-B5FD-F990-9D7A-90D6341E340C}"/>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3" name="Footer Placeholder 2">
            <a:extLst>
              <a:ext uri="{FF2B5EF4-FFF2-40B4-BE49-F238E27FC236}">
                <a16:creationId xmlns:a16="http://schemas.microsoft.com/office/drawing/2014/main" id="{CB47CB33-1A97-4532-BBB7-209326A9C9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80B7F7-B0CE-65B9-B708-44B76D34C034}"/>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3942227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13D7-FF45-1AE0-24B9-0DBFA70F2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0A44F0-592E-781A-3BD5-DBA5C9FFD2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B38526-669F-F4C4-704C-1F66CE63C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6DDBE8-DF22-CADD-C39A-0650A827EF23}"/>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6" name="Footer Placeholder 5">
            <a:extLst>
              <a:ext uri="{FF2B5EF4-FFF2-40B4-BE49-F238E27FC236}">
                <a16:creationId xmlns:a16="http://schemas.microsoft.com/office/drawing/2014/main" id="{BA2D5809-9666-7DC3-36CE-8DF6F524F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723F9-C8A3-3BEB-747A-F96916AEBD99}"/>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2442322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992AE-FFE9-E9E4-0D64-FC90E9B30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C2A9DC-2C0B-3771-4041-6F16E9761F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9DA381-A0D8-6167-9D58-E1AD696C7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FF411-DFF3-9B33-D3D0-F6EAC9CB65AA}"/>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6" name="Footer Placeholder 5">
            <a:extLst>
              <a:ext uri="{FF2B5EF4-FFF2-40B4-BE49-F238E27FC236}">
                <a16:creationId xmlns:a16="http://schemas.microsoft.com/office/drawing/2014/main" id="{2061BABE-8EA9-03A4-679F-AAF1B0C96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4DE9EB-FC02-F639-6AB5-A233DBFA1A80}"/>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2461797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CF2B-760B-0923-ADDF-5165E525B6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E9D418-CB88-EF82-8EBD-67B380E846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19E4B6-A597-FB3A-1FCB-A0CAE88A9291}"/>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D248269E-47F3-01D6-4B6F-D1A37249BA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F154C-BFED-AA27-184A-71CA1B955608}"/>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408332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8D4BF6-3261-60D5-97E3-A08ED72DA9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B21C30-F822-EB28-7352-FDBDB4C67F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7287C7-D7B1-5FE1-362D-ABF244D2B6E9}"/>
              </a:ext>
            </a:extLst>
          </p:cNvPr>
          <p:cNvSpPr>
            <a:spLocks noGrp="1"/>
          </p:cNvSpPr>
          <p:nvPr>
            <p:ph type="dt" sz="half" idx="10"/>
          </p:nvPr>
        </p:nvSpPr>
        <p:spPr/>
        <p:txBody>
          <a:body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79677287-A371-7519-53C5-849E15668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B41DB-826A-B3CD-5B98-BA80DA8C22E5}"/>
              </a:ext>
            </a:extLst>
          </p:cNvPr>
          <p:cNvSpPr>
            <a:spLocks noGrp="1"/>
          </p:cNvSpPr>
          <p:nvPr>
            <p:ph type="sldNum" sz="quarter" idx="12"/>
          </p:nvPr>
        </p:nvSpPr>
        <p:spPr/>
        <p:txBody>
          <a:bodyPr/>
          <a:lstStyle/>
          <a:p>
            <a:fld id="{3E6A3431-660E-44AF-B273-5DFC7D913692}" type="slidenum">
              <a:rPr lang="en-US" smtClean="0"/>
              <a:t>‹#›</a:t>
            </a:fld>
            <a:endParaRPr lang="en-US"/>
          </a:p>
        </p:txBody>
      </p:sp>
    </p:spTree>
    <p:extLst>
      <p:ext uri="{BB962C8B-B14F-4D97-AF65-F5344CB8AC3E}">
        <p14:creationId xmlns:p14="http://schemas.microsoft.com/office/powerpoint/2010/main" val="86961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C266CD-C41E-2903-80A7-7A049FDA12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E583B1-7B45-35BE-B4C3-23A02F6D16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56E86-C7D3-E0D3-5891-B02DF4E5BD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CC4B2-B33D-4790-9E81-FBB6F07827DA}" type="datetimeFigureOut">
              <a:rPr lang="en-US" smtClean="0"/>
              <a:t>12/4/2025</a:t>
            </a:fld>
            <a:endParaRPr lang="en-US"/>
          </a:p>
        </p:txBody>
      </p:sp>
      <p:sp>
        <p:nvSpPr>
          <p:cNvPr id="5" name="Footer Placeholder 4">
            <a:extLst>
              <a:ext uri="{FF2B5EF4-FFF2-40B4-BE49-F238E27FC236}">
                <a16:creationId xmlns:a16="http://schemas.microsoft.com/office/drawing/2014/main" id="{1E75907F-5FB1-03DE-04E3-50A6D258F4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445DCC-8354-41A5-9B6A-9E574941A1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6A3431-660E-44AF-B273-5DFC7D913692}" type="slidenum">
              <a:rPr lang="en-US" smtClean="0"/>
              <a:t>‹#›</a:t>
            </a:fld>
            <a:endParaRPr lang="en-US"/>
          </a:p>
        </p:txBody>
      </p:sp>
    </p:spTree>
    <p:extLst>
      <p:ext uri="{BB962C8B-B14F-4D97-AF65-F5344CB8AC3E}">
        <p14:creationId xmlns:p14="http://schemas.microsoft.com/office/powerpoint/2010/main" val="4131326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ranslate">
            <a:extLst>
              <a:ext uri="{FF2B5EF4-FFF2-40B4-BE49-F238E27FC236}">
                <a16:creationId xmlns:a16="http://schemas.microsoft.com/office/drawing/2014/main" id="{1E417809-119D-F1B6-E414-4A5B65C36F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4" name="Freeform: Shape 23">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C1E7DD7C-19B5-F117-00B5-AFF475C7E037}"/>
              </a:ext>
            </a:extLst>
          </p:cNvPr>
          <p:cNvSpPr>
            <a:spLocks noGrp="1"/>
          </p:cNvSpPr>
          <p:nvPr>
            <p:ph type="ctrTitle"/>
          </p:nvPr>
        </p:nvSpPr>
        <p:spPr>
          <a:xfrm>
            <a:off x="5622061" y="762538"/>
            <a:ext cx="5649349" cy="3199862"/>
          </a:xfrm>
        </p:spPr>
        <p:txBody>
          <a:bodyPr anchor="b">
            <a:normAutofit/>
          </a:bodyPr>
          <a:lstStyle/>
          <a:p>
            <a:pPr algn="l"/>
            <a:r>
              <a:rPr lang="en-US" sz="4600">
                <a:solidFill>
                  <a:srgbClr val="FFFFFF"/>
                </a:solidFill>
              </a:rPr>
              <a:t>Addressing Broken Sentence Structure in Japanese -&gt; English Machine Translation</a:t>
            </a:r>
          </a:p>
        </p:txBody>
      </p:sp>
      <p:sp>
        <p:nvSpPr>
          <p:cNvPr id="3" name="Subtitle 2">
            <a:extLst>
              <a:ext uri="{FF2B5EF4-FFF2-40B4-BE49-F238E27FC236}">
                <a16:creationId xmlns:a16="http://schemas.microsoft.com/office/drawing/2014/main" id="{BD9CF0AC-6726-B713-44D2-DA7DE5360771}"/>
              </a:ext>
            </a:extLst>
          </p:cNvPr>
          <p:cNvSpPr>
            <a:spLocks noGrp="1"/>
          </p:cNvSpPr>
          <p:nvPr>
            <p:ph type="subTitle" idx="1"/>
          </p:nvPr>
        </p:nvSpPr>
        <p:spPr>
          <a:xfrm>
            <a:off x="5622061" y="4312561"/>
            <a:ext cx="5649349" cy="1687815"/>
          </a:xfrm>
        </p:spPr>
        <p:txBody>
          <a:bodyPr anchor="t">
            <a:normAutofit/>
          </a:bodyPr>
          <a:lstStyle/>
          <a:p>
            <a:pPr algn="l"/>
            <a:r>
              <a:rPr lang="en-US" sz="2200" dirty="0">
                <a:solidFill>
                  <a:srgbClr val="FFFFFF"/>
                </a:solidFill>
              </a:rPr>
              <a:t>Computer Science Capstone</a:t>
            </a:r>
          </a:p>
          <a:p>
            <a:pPr algn="l"/>
            <a:r>
              <a:rPr lang="en-US" sz="2200" dirty="0">
                <a:solidFill>
                  <a:srgbClr val="FFFFFF"/>
                </a:solidFill>
              </a:rPr>
              <a:t>Dr. Nathalie Japkowicz</a:t>
            </a:r>
          </a:p>
          <a:p>
            <a:pPr algn="l"/>
            <a:r>
              <a:rPr lang="en-US" sz="2200" dirty="0">
                <a:solidFill>
                  <a:srgbClr val="FFFFFF"/>
                </a:solidFill>
              </a:rPr>
              <a:t>Thursday, December 4</a:t>
            </a:r>
            <a:r>
              <a:rPr lang="en-US" sz="2200" baseline="30000" dirty="0">
                <a:solidFill>
                  <a:srgbClr val="FFFFFF"/>
                </a:solidFill>
              </a:rPr>
              <a:t>th</a:t>
            </a:r>
            <a:endParaRPr lang="en-US" sz="2200" dirty="0">
              <a:solidFill>
                <a:srgbClr val="FFFFFF"/>
              </a:solidFill>
            </a:endParaRPr>
          </a:p>
          <a:p>
            <a:pPr algn="l"/>
            <a:r>
              <a:rPr lang="en-US" sz="2200" dirty="0">
                <a:solidFill>
                  <a:srgbClr val="FFFFFF"/>
                </a:solidFill>
              </a:rPr>
              <a:t>Rhys Cabot</a:t>
            </a:r>
          </a:p>
        </p:txBody>
      </p:sp>
      <p:sp>
        <p:nvSpPr>
          <p:cNvPr id="26"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1635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11A6F-A4FD-52DA-5085-5DFA8FB20CA6}"/>
              </a:ext>
            </a:extLst>
          </p:cNvPr>
          <p:cNvSpPr>
            <a:spLocks noGrp="1"/>
          </p:cNvSpPr>
          <p:nvPr>
            <p:ph type="title"/>
          </p:nvPr>
        </p:nvSpPr>
        <p:spPr>
          <a:xfrm>
            <a:off x="841248" y="548640"/>
            <a:ext cx="3600860" cy="5431536"/>
          </a:xfrm>
        </p:spPr>
        <p:txBody>
          <a:bodyPr>
            <a:normAutofit/>
          </a:bodyPr>
          <a:lstStyle/>
          <a:p>
            <a:r>
              <a:rPr lang="en-US" sz="5400"/>
              <a:t>The Problem</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7B66B0-84FE-CEAD-66F7-0BBBA8A10183}"/>
              </a:ext>
            </a:extLst>
          </p:cNvPr>
          <p:cNvSpPr>
            <a:spLocks noGrp="1"/>
          </p:cNvSpPr>
          <p:nvPr>
            <p:ph idx="1"/>
          </p:nvPr>
        </p:nvSpPr>
        <p:spPr>
          <a:xfrm>
            <a:off x="5126418" y="552091"/>
            <a:ext cx="6224335" cy="5431536"/>
          </a:xfrm>
        </p:spPr>
        <p:txBody>
          <a:bodyPr anchor="ctr">
            <a:normAutofit/>
          </a:bodyPr>
          <a:lstStyle/>
          <a:p>
            <a:r>
              <a:rPr lang="en-US" sz="2000" dirty="0"/>
              <a:t>English uses a </a:t>
            </a:r>
            <a:r>
              <a:rPr lang="en-US" sz="2000" b="1" dirty="0"/>
              <a:t>SVO</a:t>
            </a:r>
            <a:r>
              <a:rPr lang="en-US" sz="2000" dirty="0"/>
              <a:t> (Subject-Verb-Object) sentence structure</a:t>
            </a:r>
          </a:p>
          <a:p>
            <a:pPr lvl="1"/>
            <a:r>
              <a:rPr lang="en-US" sz="2000" dirty="0">
                <a:solidFill>
                  <a:srgbClr val="C00000"/>
                </a:solidFill>
              </a:rPr>
              <a:t>Rhys</a:t>
            </a:r>
            <a:r>
              <a:rPr lang="en-US" sz="2000" dirty="0"/>
              <a:t> </a:t>
            </a:r>
            <a:r>
              <a:rPr lang="en-US" sz="2000" dirty="0">
                <a:solidFill>
                  <a:srgbClr val="7030A0"/>
                </a:solidFill>
              </a:rPr>
              <a:t>went to</a:t>
            </a:r>
            <a:r>
              <a:rPr lang="en-US" sz="2000" dirty="0"/>
              <a:t> </a:t>
            </a:r>
            <a:r>
              <a:rPr lang="en-US" sz="2000" dirty="0">
                <a:solidFill>
                  <a:srgbClr val="00B0F0"/>
                </a:solidFill>
              </a:rPr>
              <a:t>American University.</a:t>
            </a:r>
          </a:p>
          <a:p>
            <a:r>
              <a:rPr lang="en-US" sz="2000" dirty="0"/>
              <a:t>Japanese uses a strict </a:t>
            </a:r>
            <a:r>
              <a:rPr lang="en-US" sz="2000" b="1" dirty="0"/>
              <a:t>SOV</a:t>
            </a:r>
            <a:r>
              <a:rPr lang="en-US" sz="2000" dirty="0"/>
              <a:t> (Subject-Object-Verb) structure</a:t>
            </a:r>
          </a:p>
          <a:p>
            <a:pPr lvl="1"/>
            <a:r>
              <a:rPr lang="ja-JP" altLang="en-US" sz="2000" dirty="0">
                <a:solidFill>
                  <a:srgbClr val="C00000"/>
                </a:solidFill>
              </a:rPr>
              <a:t>リスは</a:t>
            </a:r>
            <a:r>
              <a:rPr lang="ja-JP" altLang="en-US" sz="2000" dirty="0">
                <a:solidFill>
                  <a:srgbClr val="00B0F0"/>
                </a:solidFill>
              </a:rPr>
              <a:t>アメリカン大学</a:t>
            </a:r>
            <a:r>
              <a:rPr lang="ja-JP" altLang="en-US" sz="2000" dirty="0">
                <a:solidFill>
                  <a:srgbClr val="7030A0"/>
                </a:solidFill>
              </a:rPr>
              <a:t>に行きました。</a:t>
            </a:r>
            <a:endParaRPr lang="en-US" sz="2000" dirty="0">
              <a:solidFill>
                <a:srgbClr val="7030A0"/>
              </a:solidFill>
            </a:endParaRPr>
          </a:p>
          <a:p>
            <a:r>
              <a:rPr lang="en-US" sz="2000" dirty="0"/>
              <a:t>Machine translation models focus 1-1 accuracy above all else</a:t>
            </a:r>
          </a:p>
          <a:p>
            <a:r>
              <a:rPr lang="en-US" sz="2000" dirty="0"/>
              <a:t>Some models, especially weaker ones, will present a reply with broken sentences due to the change in word order.</a:t>
            </a:r>
          </a:p>
          <a:p>
            <a:pPr lvl="1"/>
            <a:r>
              <a:rPr lang="en-US" sz="2000" dirty="0"/>
              <a:t>This is especially bad since Japanese often omits the subject</a:t>
            </a:r>
          </a:p>
          <a:p>
            <a:r>
              <a:rPr lang="en-US" sz="2000" dirty="0"/>
              <a:t>My research was concerned with how to prevent this, or if that’s out of scope, how to mitigate its effect on translators</a:t>
            </a:r>
          </a:p>
        </p:txBody>
      </p:sp>
    </p:spTree>
    <p:extLst>
      <p:ext uri="{BB962C8B-B14F-4D97-AF65-F5344CB8AC3E}">
        <p14:creationId xmlns:p14="http://schemas.microsoft.com/office/powerpoint/2010/main" val="3500351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FB62AF-4F4A-C77A-B31A-0A47E0DA7288}"/>
              </a:ext>
            </a:extLst>
          </p:cNvPr>
          <p:cNvSpPr>
            <a:spLocks noGrp="1"/>
          </p:cNvSpPr>
          <p:nvPr>
            <p:ph type="title"/>
          </p:nvPr>
        </p:nvSpPr>
        <p:spPr>
          <a:xfrm>
            <a:off x="841248" y="548640"/>
            <a:ext cx="3600860" cy="5431536"/>
          </a:xfrm>
        </p:spPr>
        <p:txBody>
          <a:bodyPr>
            <a:normAutofit/>
          </a:bodyPr>
          <a:lstStyle/>
          <a:p>
            <a:r>
              <a:rPr lang="en-US" sz="5400"/>
              <a:t>But why?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9ADFA7-784E-6411-8327-8A29B013509E}"/>
              </a:ext>
            </a:extLst>
          </p:cNvPr>
          <p:cNvSpPr>
            <a:spLocks noGrp="1"/>
          </p:cNvSpPr>
          <p:nvPr>
            <p:ph idx="1"/>
          </p:nvPr>
        </p:nvSpPr>
        <p:spPr>
          <a:xfrm>
            <a:off x="5126418" y="552091"/>
            <a:ext cx="6224335" cy="5431536"/>
          </a:xfrm>
        </p:spPr>
        <p:txBody>
          <a:bodyPr anchor="ctr">
            <a:normAutofit/>
          </a:bodyPr>
          <a:lstStyle/>
          <a:p>
            <a:r>
              <a:rPr lang="en-US" sz="2200" dirty="0"/>
              <a:t>Many modern translators lament that their job has turned into MTPE, or machine translation post-editing</a:t>
            </a:r>
          </a:p>
          <a:p>
            <a:r>
              <a:rPr lang="en-US" sz="2200" dirty="0"/>
              <a:t>Language proficiency is less necessary for their job</a:t>
            </a:r>
          </a:p>
          <a:p>
            <a:r>
              <a:rPr lang="en-US" sz="2200" b="1" dirty="0"/>
              <a:t>Efficiency matters:</a:t>
            </a:r>
            <a:r>
              <a:rPr lang="en-US" sz="2200" dirty="0"/>
              <a:t> Most translators are paid per word, not hourly</a:t>
            </a:r>
          </a:p>
          <a:p>
            <a:r>
              <a:rPr lang="en-US" sz="2200" dirty="0"/>
              <a:t>Wasting time correcting a messy machine translation can directly hurt their income if it is frequent enough</a:t>
            </a:r>
          </a:p>
          <a:p>
            <a:r>
              <a:rPr lang="en-US" sz="2200" dirty="0"/>
              <a:t>The field is sometimes less knowing the language and more knowing how to correct common model mistakes</a:t>
            </a:r>
          </a:p>
        </p:txBody>
      </p:sp>
    </p:spTree>
    <p:extLst>
      <p:ext uri="{BB962C8B-B14F-4D97-AF65-F5344CB8AC3E}">
        <p14:creationId xmlns:p14="http://schemas.microsoft.com/office/powerpoint/2010/main" val="155426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A3A4AD-A73E-091E-8D29-F0D652FDB6E2}"/>
              </a:ext>
            </a:extLst>
          </p:cNvPr>
          <p:cNvSpPr>
            <a:spLocks noGrp="1"/>
          </p:cNvSpPr>
          <p:nvPr>
            <p:ph type="title"/>
          </p:nvPr>
        </p:nvSpPr>
        <p:spPr>
          <a:xfrm>
            <a:off x="635000" y="640823"/>
            <a:ext cx="3418659" cy="5583148"/>
          </a:xfrm>
        </p:spPr>
        <p:txBody>
          <a:bodyPr anchor="ctr">
            <a:normAutofit/>
          </a:bodyPr>
          <a:lstStyle/>
          <a:p>
            <a:r>
              <a:rPr lang="en-US" sz="5400" dirty="0"/>
              <a:t>Why Japanese </a:t>
            </a:r>
            <a:br>
              <a:rPr lang="en-US" sz="5400" dirty="0"/>
            </a:br>
            <a:r>
              <a:rPr lang="en-US" sz="5400" dirty="0"/>
              <a:t>-&gt; English?</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689982E-678C-6EC9-F06B-A9EBB03DC2A2}"/>
              </a:ext>
            </a:extLst>
          </p:cNvPr>
          <p:cNvGraphicFramePr>
            <a:graphicFrameLocks noGrp="1"/>
          </p:cNvGraphicFramePr>
          <p:nvPr>
            <p:ph idx="1"/>
            <p:extLst>
              <p:ext uri="{D42A27DB-BD31-4B8C-83A1-F6EECF244321}">
                <p14:modId xmlns:p14="http://schemas.microsoft.com/office/powerpoint/2010/main" val="260410286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2861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26B11-13CD-50CF-C344-F1DD18AC524B}"/>
              </a:ext>
            </a:extLst>
          </p:cNvPr>
          <p:cNvSpPr>
            <a:spLocks noGrp="1"/>
          </p:cNvSpPr>
          <p:nvPr>
            <p:ph type="title"/>
          </p:nvPr>
        </p:nvSpPr>
        <p:spPr/>
        <p:txBody>
          <a:bodyPr/>
          <a:lstStyle/>
          <a:p>
            <a:r>
              <a:rPr lang="en-US" dirty="0"/>
              <a:t>Why not use an LLM?</a:t>
            </a:r>
          </a:p>
        </p:txBody>
      </p:sp>
      <p:sp>
        <p:nvSpPr>
          <p:cNvPr id="3" name="Content Placeholder 2">
            <a:extLst>
              <a:ext uri="{FF2B5EF4-FFF2-40B4-BE49-F238E27FC236}">
                <a16:creationId xmlns:a16="http://schemas.microsoft.com/office/drawing/2014/main" id="{E59D7D2B-0EA8-8283-9BBA-D27085B036D2}"/>
              </a:ext>
            </a:extLst>
          </p:cNvPr>
          <p:cNvSpPr>
            <a:spLocks noGrp="1"/>
          </p:cNvSpPr>
          <p:nvPr>
            <p:ph idx="1"/>
          </p:nvPr>
        </p:nvSpPr>
        <p:spPr/>
        <p:txBody>
          <a:bodyPr/>
          <a:lstStyle/>
          <a:p>
            <a:r>
              <a:rPr lang="en-US" dirty="0"/>
              <a:t>I don’t like them</a:t>
            </a:r>
          </a:p>
          <a:p>
            <a:r>
              <a:rPr lang="en-US" dirty="0"/>
              <a:t>LLMs prioritize “readability” over accuracy, meaning they sometimes change the meaning of the sentence significantly</a:t>
            </a:r>
          </a:p>
          <a:p>
            <a:r>
              <a:rPr lang="en-US" dirty="0"/>
              <a:t>They’ll often add content that wasn’t there for clarity</a:t>
            </a:r>
          </a:p>
          <a:p>
            <a:pPr lvl="1"/>
            <a:r>
              <a:rPr lang="en-US" b="1" dirty="0"/>
              <a:t>This breaks one of those fundamental translation principles</a:t>
            </a:r>
          </a:p>
          <a:p>
            <a:r>
              <a:rPr lang="en-US" dirty="0"/>
              <a:t>Japanese also often omits direct reference to the subject, which creates confusion for the model</a:t>
            </a:r>
          </a:p>
          <a:p>
            <a:r>
              <a:rPr lang="en-US" dirty="0"/>
              <a:t>Despite all of this we’ll talk more about these towards the end</a:t>
            </a:r>
          </a:p>
        </p:txBody>
      </p:sp>
    </p:spTree>
    <p:extLst>
      <p:ext uri="{BB962C8B-B14F-4D97-AF65-F5344CB8AC3E}">
        <p14:creationId xmlns:p14="http://schemas.microsoft.com/office/powerpoint/2010/main" val="3576905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416EBC-B41E-4F8A-BE9F-07301B682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FF79527-C7F1-4E06-8126-A8E8C5FEB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10" y="1162033"/>
            <a:ext cx="3740740" cy="4643344"/>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206A7E7-86A3-63E0-B182-4FC473E9782E}"/>
              </a:ext>
            </a:extLst>
          </p:cNvPr>
          <p:cNvSpPr>
            <a:spLocks noGrp="1"/>
          </p:cNvSpPr>
          <p:nvPr>
            <p:ph type="title"/>
          </p:nvPr>
        </p:nvSpPr>
        <p:spPr>
          <a:xfrm>
            <a:off x="868680" y="1719072"/>
            <a:ext cx="3103427" cy="3520440"/>
          </a:xfrm>
        </p:spPr>
        <p:txBody>
          <a:bodyPr anchor="t">
            <a:normAutofit/>
          </a:bodyPr>
          <a:lstStyle/>
          <a:p>
            <a:r>
              <a:rPr lang="en-US" sz="3600"/>
              <a:t>What’s unique about my research?</a:t>
            </a:r>
          </a:p>
        </p:txBody>
      </p:sp>
      <p:sp>
        <p:nvSpPr>
          <p:cNvPr id="13" name="Rectangle 12">
            <a:extLst>
              <a:ext uri="{FF2B5EF4-FFF2-40B4-BE49-F238E27FC236}">
                <a16:creationId xmlns:a16="http://schemas.microsoft.com/office/drawing/2014/main" id="{55986208-8A53-4E92-9197-6B57BCCB2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618375"/>
            <a:ext cx="146304" cy="822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1FA6D6A-5AD4-4384-F868-32CD34DCAF92}"/>
              </a:ext>
            </a:extLst>
          </p:cNvPr>
          <p:cNvGraphicFramePr>
            <a:graphicFrameLocks noGrp="1"/>
          </p:cNvGraphicFramePr>
          <p:nvPr>
            <p:ph idx="1"/>
            <p:extLst>
              <p:ext uri="{D42A27DB-BD31-4B8C-83A1-F6EECF244321}">
                <p14:modId xmlns:p14="http://schemas.microsoft.com/office/powerpoint/2010/main" val="2781752661"/>
              </p:ext>
            </p:extLst>
          </p:nvPr>
        </p:nvGraphicFramePr>
        <p:xfrm>
          <a:off x="4727448" y="640080"/>
          <a:ext cx="6967728"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4963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4AC1-5BAB-5416-5D3F-00320EBD1517}"/>
              </a:ext>
            </a:extLst>
          </p:cNvPr>
          <p:cNvSpPr>
            <a:spLocks noGrp="1"/>
          </p:cNvSpPr>
          <p:nvPr>
            <p:ph type="title"/>
          </p:nvPr>
        </p:nvSpPr>
        <p:spPr/>
        <p:txBody>
          <a:bodyPr/>
          <a:lstStyle/>
          <a:p>
            <a:r>
              <a:rPr lang="en-US" dirty="0"/>
              <a:t>The Plan</a:t>
            </a:r>
          </a:p>
        </p:txBody>
      </p:sp>
      <p:sp>
        <p:nvSpPr>
          <p:cNvPr id="3" name="Content Placeholder 2">
            <a:extLst>
              <a:ext uri="{FF2B5EF4-FFF2-40B4-BE49-F238E27FC236}">
                <a16:creationId xmlns:a16="http://schemas.microsoft.com/office/drawing/2014/main" id="{6A2C0DA5-366E-8DBF-2CD2-4FE9C4D2D284}"/>
              </a:ext>
            </a:extLst>
          </p:cNvPr>
          <p:cNvSpPr>
            <a:spLocks noGrp="1"/>
          </p:cNvSpPr>
          <p:nvPr>
            <p:ph idx="1"/>
          </p:nvPr>
        </p:nvSpPr>
        <p:spPr/>
        <p:txBody>
          <a:bodyPr/>
          <a:lstStyle/>
          <a:p>
            <a:r>
              <a:rPr lang="en-US" b="1" dirty="0"/>
              <a:t>Part 1: Make a machine translation model in Python</a:t>
            </a:r>
          </a:p>
          <a:p>
            <a:r>
              <a:rPr lang="en-US" b="1" dirty="0"/>
              <a:t>Part 2: Tune the hyperparameters to see if it helps</a:t>
            </a:r>
          </a:p>
          <a:p>
            <a:r>
              <a:rPr lang="en-US" b="1" dirty="0"/>
              <a:t>Part 3: Run post-processing steps to fine tune the output</a:t>
            </a:r>
          </a:p>
          <a:p>
            <a:r>
              <a:rPr lang="en-US" b="1" dirty="0"/>
              <a:t>Part 4: Ruminate</a:t>
            </a:r>
          </a:p>
          <a:p>
            <a:endParaRPr lang="en-US" b="1" dirty="0"/>
          </a:p>
          <a:p>
            <a:pPr marL="0" indent="0">
              <a:buNone/>
            </a:pPr>
            <a:r>
              <a:rPr lang="en-US" dirty="0"/>
              <a:t>That was the plan, but I had to make a change</a:t>
            </a:r>
          </a:p>
          <a:p>
            <a:endParaRPr lang="en-US" b="1" dirty="0"/>
          </a:p>
        </p:txBody>
      </p:sp>
    </p:spTree>
    <p:extLst>
      <p:ext uri="{BB962C8B-B14F-4D97-AF65-F5344CB8AC3E}">
        <p14:creationId xmlns:p14="http://schemas.microsoft.com/office/powerpoint/2010/main" val="960896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DA2E4-3721-83AB-E397-3AD285FD5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D01BE-CED0-727E-ECCF-4EA204DC4DD5}"/>
              </a:ext>
            </a:extLst>
          </p:cNvPr>
          <p:cNvSpPr>
            <a:spLocks noGrp="1"/>
          </p:cNvSpPr>
          <p:nvPr>
            <p:ph type="title"/>
          </p:nvPr>
        </p:nvSpPr>
        <p:spPr/>
        <p:txBody>
          <a:bodyPr/>
          <a:lstStyle/>
          <a:p>
            <a:r>
              <a:rPr lang="en-US" dirty="0"/>
              <a:t>The Plan</a:t>
            </a:r>
          </a:p>
        </p:txBody>
      </p:sp>
      <p:sp>
        <p:nvSpPr>
          <p:cNvPr id="3" name="Content Placeholder 2">
            <a:extLst>
              <a:ext uri="{FF2B5EF4-FFF2-40B4-BE49-F238E27FC236}">
                <a16:creationId xmlns:a16="http://schemas.microsoft.com/office/drawing/2014/main" id="{4FAEF550-1A9B-C8EE-362E-A36B4EC06E0F}"/>
              </a:ext>
            </a:extLst>
          </p:cNvPr>
          <p:cNvSpPr>
            <a:spLocks noGrp="1"/>
          </p:cNvSpPr>
          <p:nvPr>
            <p:ph idx="1"/>
          </p:nvPr>
        </p:nvSpPr>
        <p:spPr/>
        <p:txBody>
          <a:bodyPr/>
          <a:lstStyle/>
          <a:p>
            <a:r>
              <a:rPr lang="en-US" b="1" dirty="0"/>
              <a:t>Part 1: Make a machine translation model in Python</a:t>
            </a:r>
          </a:p>
          <a:p>
            <a:r>
              <a:rPr lang="en-US" b="1" dirty="0"/>
              <a:t>Part 2: Tune the hyperparameters to see if it helps</a:t>
            </a:r>
          </a:p>
          <a:p>
            <a:r>
              <a:rPr lang="en-US" b="1" dirty="0"/>
              <a:t>Part 3: Run post-processing steps to fine tune the output</a:t>
            </a:r>
          </a:p>
          <a:p>
            <a:r>
              <a:rPr lang="en-US" b="1" dirty="0"/>
              <a:t>Part 4: Ruminate</a:t>
            </a:r>
            <a:endParaRPr lang="en-US" dirty="0"/>
          </a:p>
          <a:p>
            <a:endParaRPr lang="en-US" b="1" dirty="0"/>
          </a:p>
        </p:txBody>
      </p:sp>
      <p:sp>
        <p:nvSpPr>
          <p:cNvPr id="4" name="Multiplication Sign 3">
            <a:extLst>
              <a:ext uri="{FF2B5EF4-FFF2-40B4-BE49-F238E27FC236}">
                <a16:creationId xmlns:a16="http://schemas.microsoft.com/office/drawing/2014/main" id="{DA7C579F-8EE2-53F5-95AF-30D1975DA4C7}"/>
              </a:ext>
            </a:extLst>
          </p:cNvPr>
          <p:cNvSpPr/>
          <p:nvPr/>
        </p:nvSpPr>
        <p:spPr>
          <a:xfrm>
            <a:off x="-963495" y="2344301"/>
            <a:ext cx="13155495" cy="515500"/>
          </a:xfrm>
          <a:prstGeom prst="mathMultiply">
            <a:avLst>
              <a:gd name="adj1" fmla="val 17568"/>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82208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728B0-1B2F-5911-5A80-8414A38E9BF5}"/>
              </a:ext>
            </a:extLst>
          </p:cNvPr>
          <p:cNvSpPr>
            <a:spLocks noGrp="1"/>
          </p:cNvSpPr>
          <p:nvPr>
            <p:ph type="title"/>
          </p:nvPr>
        </p:nvSpPr>
        <p:spPr>
          <a:xfrm>
            <a:off x="838200" y="1060682"/>
            <a:ext cx="3687041" cy="2368317"/>
          </a:xfrm>
        </p:spPr>
        <p:txBody>
          <a:bodyPr anchor="t">
            <a:normAutofit/>
          </a:bodyPr>
          <a:lstStyle/>
          <a:p>
            <a:r>
              <a:rPr lang="en-US" sz="3200"/>
              <a:t>Why cut hyperparameter tuning?</a:t>
            </a:r>
          </a:p>
        </p:txBody>
      </p:sp>
      <p:pic>
        <p:nvPicPr>
          <p:cNvPr id="5" name="Picture 4">
            <a:extLst>
              <a:ext uri="{FF2B5EF4-FFF2-40B4-BE49-F238E27FC236}">
                <a16:creationId xmlns:a16="http://schemas.microsoft.com/office/drawing/2014/main" id="{700B2BA8-2353-CF7E-D387-CA8F57332DCA}"/>
              </a:ext>
            </a:extLst>
          </p:cNvPr>
          <p:cNvPicPr>
            <a:picLocks noChangeAspect="1"/>
          </p:cNvPicPr>
          <p:nvPr/>
        </p:nvPicPr>
        <p:blipFill>
          <a:blip r:embed="rId2"/>
          <a:stretch>
            <a:fillRect/>
          </a:stretch>
        </p:blipFill>
        <p:spPr>
          <a:xfrm>
            <a:off x="906280" y="5265051"/>
            <a:ext cx="10617045" cy="716649"/>
          </a:xfrm>
          <a:prstGeom prst="rect">
            <a:avLst/>
          </a:prstGeom>
        </p:spPr>
      </p:pic>
      <p:sp>
        <p:nvSpPr>
          <p:cNvPr id="3" name="Content Placeholder 2">
            <a:extLst>
              <a:ext uri="{FF2B5EF4-FFF2-40B4-BE49-F238E27FC236}">
                <a16:creationId xmlns:a16="http://schemas.microsoft.com/office/drawing/2014/main" id="{66DAE8C3-AC2F-DF0B-A095-234AA0D8FDDA}"/>
              </a:ext>
            </a:extLst>
          </p:cNvPr>
          <p:cNvSpPr>
            <a:spLocks noGrp="1"/>
          </p:cNvSpPr>
          <p:nvPr>
            <p:ph idx="1"/>
          </p:nvPr>
        </p:nvSpPr>
        <p:spPr>
          <a:xfrm>
            <a:off x="5348086" y="1035843"/>
            <a:ext cx="6005713" cy="4945857"/>
          </a:xfrm>
        </p:spPr>
        <p:txBody>
          <a:bodyPr>
            <a:normAutofit/>
          </a:bodyPr>
          <a:lstStyle/>
          <a:p>
            <a:r>
              <a:rPr lang="en-US" sz="2000" dirty="0"/>
              <a:t>Technological &amp; time restraints: Good models take a </a:t>
            </a:r>
            <a:r>
              <a:rPr lang="en-US" sz="2000" dirty="0" err="1"/>
              <a:t>looooong</a:t>
            </a:r>
            <a:r>
              <a:rPr lang="en-US" sz="2000" dirty="0"/>
              <a:t> time to train, and I do not have the time to train the model dozens of times over to find the right hyperparameters.</a:t>
            </a:r>
          </a:p>
          <a:p>
            <a:r>
              <a:rPr lang="en-US" sz="2000" dirty="0"/>
              <a:t>Quantifying improvement: The issue is very hard to numerically represent, automatic hyperparameter tuning doesn’t know how to evaluate performance based on the highlighted issue.</a:t>
            </a:r>
          </a:p>
          <a:p>
            <a:r>
              <a:rPr lang="en-US" sz="2000" dirty="0"/>
              <a:t>We’ve had these models for years and years and years: If it was as simple as hyperparameter tuning to iron out the issue, I’m sure Google Translate would never produce this issue</a:t>
            </a:r>
          </a:p>
        </p:txBody>
      </p:sp>
      <p:grpSp>
        <p:nvGrpSpPr>
          <p:cNvPr id="10" name="Group 9">
            <a:extLst>
              <a:ext uri="{FF2B5EF4-FFF2-40B4-BE49-F238E27FC236}">
                <a16:creationId xmlns:a16="http://schemas.microsoft.com/office/drawing/2014/main" id="{7D2D829D-2830-5F07-E40B-C351944AB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521FC5EF-435E-F74E-11C5-A935C7066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F3CE81-94AA-585B-379D-CB757AFCC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8797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218A5E-B77B-3806-8A0D-1E6E53744CF8}"/>
              </a:ext>
            </a:extLst>
          </p:cNvPr>
          <p:cNvSpPr>
            <a:spLocks noGrp="1"/>
          </p:cNvSpPr>
          <p:nvPr>
            <p:ph type="title"/>
          </p:nvPr>
        </p:nvSpPr>
        <p:spPr>
          <a:xfrm>
            <a:off x="621792" y="1161288"/>
            <a:ext cx="3602736" cy="4526280"/>
          </a:xfrm>
        </p:spPr>
        <p:txBody>
          <a:bodyPr>
            <a:normAutofit/>
          </a:bodyPr>
          <a:lstStyle/>
          <a:p>
            <a:r>
              <a:rPr lang="en-US" sz="4000"/>
              <a:t>Downsides: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FF1E0FE-3CC0-3767-7426-98CDE87E5CCC}"/>
              </a:ext>
            </a:extLst>
          </p:cNvPr>
          <p:cNvGraphicFramePr>
            <a:graphicFrameLocks noGrp="1"/>
          </p:cNvGraphicFramePr>
          <p:nvPr>
            <p:ph idx="1"/>
            <p:extLst>
              <p:ext uri="{D42A27DB-BD31-4B8C-83A1-F6EECF244321}">
                <p14:modId xmlns:p14="http://schemas.microsoft.com/office/powerpoint/2010/main" val="372957890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3953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E40760-4794-4D7E-76D7-60D1638CDF1A}"/>
              </a:ext>
            </a:extLst>
          </p:cNvPr>
          <p:cNvSpPr>
            <a:spLocks noGrp="1"/>
          </p:cNvSpPr>
          <p:nvPr>
            <p:ph type="title"/>
          </p:nvPr>
        </p:nvSpPr>
        <p:spPr>
          <a:xfrm>
            <a:off x="621792" y="1161288"/>
            <a:ext cx="3602736" cy="4526280"/>
          </a:xfrm>
        </p:spPr>
        <p:txBody>
          <a:bodyPr>
            <a:normAutofit/>
          </a:bodyPr>
          <a:lstStyle/>
          <a:p>
            <a:r>
              <a:rPr lang="en-US" sz="4000"/>
              <a:t>Post-Processing</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19D6D66-64CB-6BF7-C858-B7D363F9F944}"/>
              </a:ext>
            </a:extLst>
          </p:cNvPr>
          <p:cNvGraphicFramePr>
            <a:graphicFrameLocks noGrp="1"/>
          </p:cNvGraphicFramePr>
          <p:nvPr>
            <p:ph idx="1"/>
            <p:extLst>
              <p:ext uri="{D42A27DB-BD31-4B8C-83A1-F6EECF244321}">
                <p14:modId xmlns:p14="http://schemas.microsoft.com/office/powerpoint/2010/main" val="93984733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3550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Arc 2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A246E6-F91C-9684-2DC8-38D361EDA7D8}"/>
              </a:ext>
            </a:extLst>
          </p:cNvPr>
          <p:cNvSpPr>
            <a:spLocks noGrp="1"/>
          </p:cNvSpPr>
          <p:nvPr>
            <p:ph type="title"/>
          </p:nvPr>
        </p:nvSpPr>
        <p:spPr>
          <a:xfrm>
            <a:off x="5894962" y="479493"/>
            <a:ext cx="5458838" cy="1325563"/>
          </a:xfrm>
        </p:spPr>
        <p:txBody>
          <a:bodyPr>
            <a:normAutofit/>
          </a:bodyPr>
          <a:lstStyle/>
          <a:p>
            <a:r>
              <a:rPr lang="en-US"/>
              <a:t>Results?</a:t>
            </a:r>
          </a:p>
        </p:txBody>
      </p:sp>
      <p:sp>
        <p:nvSpPr>
          <p:cNvPr id="25" name="Freeform: Shape 2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 shot of a black screen&#10;&#10;AI-generated content may be incorrect.">
            <a:extLst>
              <a:ext uri="{FF2B5EF4-FFF2-40B4-BE49-F238E27FC236}">
                <a16:creationId xmlns:a16="http://schemas.microsoft.com/office/drawing/2014/main" id="{A4C2FBD7-6A23-0B14-6067-3414F1CD2969}"/>
              </a:ext>
            </a:extLst>
          </p:cNvPr>
          <p:cNvPicPr>
            <a:picLocks noChangeAspect="1"/>
          </p:cNvPicPr>
          <p:nvPr/>
        </p:nvPicPr>
        <p:blipFill>
          <a:blip r:embed="rId2"/>
          <a:stretch>
            <a:fillRect/>
          </a:stretch>
        </p:blipFill>
        <p:spPr>
          <a:xfrm>
            <a:off x="703182" y="2418511"/>
            <a:ext cx="4777381" cy="185123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E7A4DC2A-A00C-061A-DE28-14E11A86B3B9}"/>
              </a:ext>
            </a:extLst>
          </p:cNvPr>
          <p:cNvSpPr>
            <a:spLocks noGrp="1"/>
          </p:cNvSpPr>
          <p:nvPr>
            <p:ph idx="1"/>
          </p:nvPr>
        </p:nvSpPr>
        <p:spPr>
          <a:xfrm>
            <a:off x="5894962" y="1984443"/>
            <a:ext cx="5458838" cy="4192520"/>
          </a:xfrm>
        </p:spPr>
        <p:txBody>
          <a:bodyPr>
            <a:normAutofit/>
          </a:bodyPr>
          <a:lstStyle/>
          <a:p>
            <a:r>
              <a:rPr lang="en-US" sz="2000" dirty="0"/>
              <a:t>Results are very difficult to quantify with this project, as we are evaluating how impactful and frequent a machine translation error is. Much of the research was focused on why it happens, and it’s hard to really put months of research into a presentation that also needs to go over approach and how it changed.</a:t>
            </a:r>
          </a:p>
          <a:p>
            <a:r>
              <a:rPr lang="en-US" sz="2000" b="1" dirty="0"/>
              <a:t>Why does it happen?</a:t>
            </a:r>
            <a:r>
              <a:rPr lang="en-US" sz="2000" dirty="0"/>
              <a:t> Omitted words/concepts, sentence order, extreme focus on accuracy, too many words at once</a:t>
            </a:r>
          </a:p>
          <a:p>
            <a:r>
              <a:rPr lang="en-US" sz="2000" b="1" dirty="0"/>
              <a:t>Can we fix it?</a:t>
            </a:r>
            <a:r>
              <a:rPr lang="en-US" sz="2000" dirty="0"/>
              <a:t> Eh?</a:t>
            </a:r>
          </a:p>
          <a:p>
            <a:endParaRPr lang="en-US" sz="2000" dirty="0"/>
          </a:p>
        </p:txBody>
      </p:sp>
    </p:spTree>
    <p:extLst>
      <p:ext uri="{BB962C8B-B14F-4D97-AF65-F5344CB8AC3E}">
        <p14:creationId xmlns:p14="http://schemas.microsoft.com/office/powerpoint/2010/main" val="312211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4DB80-3601-26C6-50C9-0385707A7FF0}"/>
              </a:ext>
            </a:extLst>
          </p:cNvPr>
          <p:cNvSpPr>
            <a:spLocks noGrp="1"/>
          </p:cNvSpPr>
          <p:nvPr>
            <p:ph type="title"/>
          </p:nvPr>
        </p:nvSpPr>
        <p:spPr>
          <a:xfrm>
            <a:off x="841248" y="548640"/>
            <a:ext cx="3600860" cy="5431536"/>
          </a:xfrm>
        </p:spPr>
        <p:txBody>
          <a:bodyPr>
            <a:normAutofit/>
          </a:bodyPr>
          <a:lstStyle/>
          <a:p>
            <a:r>
              <a:rPr lang="en-US" sz="5400"/>
              <a:t>The Larger Problem</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BF0C93-1AC2-CD38-C657-2F1A3F2961E4}"/>
              </a:ext>
            </a:extLst>
          </p:cNvPr>
          <p:cNvSpPr>
            <a:spLocks noGrp="1"/>
          </p:cNvSpPr>
          <p:nvPr>
            <p:ph idx="1"/>
          </p:nvPr>
        </p:nvSpPr>
        <p:spPr>
          <a:xfrm>
            <a:off x="5126418" y="552091"/>
            <a:ext cx="6224335" cy="5431536"/>
          </a:xfrm>
        </p:spPr>
        <p:txBody>
          <a:bodyPr anchor="ctr">
            <a:normAutofit/>
          </a:bodyPr>
          <a:lstStyle/>
          <a:p>
            <a:r>
              <a:rPr lang="en-US" dirty="0"/>
              <a:t>As time has gone on, and NMT (Neural Machine Translation) models have taken the forefront, we are more aware than ever of what machine translation issues can and can’t be fixed on the model’s end.</a:t>
            </a:r>
          </a:p>
          <a:p>
            <a:r>
              <a:rPr lang="en-US" dirty="0"/>
              <a:t>This issue is not as prevalent in neural models, </a:t>
            </a:r>
            <a:r>
              <a:rPr lang="en-US" b="1" dirty="0"/>
              <a:t>but it still occurs</a:t>
            </a:r>
            <a:r>
              <a:rPr lang="en-US" dirty="0"/>
              <a:t>. </a:t>
            </a:r>
          </a:p>
          <a:p>
            <a:r>
              <a:rPr lang="en-US" dirty="0"/>
              <a:t>This is a very persistent problem, and it can’t really be fixed by fine tuning the model itself. Post-processing is our best bet at combatting it.</a:t>
            </a:r>
          </a:p>
        </p:txBody>
      </p:sp>
    </p:spTree>
    <p:extLst>
      <p:ext uri="{BB962C8B-B14F-4D97-AF65-F5344CB8AC3E}">
        <p14:creationId xmlns:p14="http://schemas.microsoft.com/office/powerpoint/2010/main" val="159866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12A053-F522-1E0D-383F-494A2A77B99B}"/>
              </a:ext>
            </a:extLst>
          </p:cNvPr>
          <p:cNvSpPr>
            <a:spLocks noGrp="1"/>
          </p:cNvSpPr>
          <p:nvPr>
            <p:ph type="title"/>
          </p:nvPr>
        </p:nvSpPr>
        <p:spPr>
          <a:xfrm>
            <a:off x="686834" y="1153572"/>
            <a:ext cx="3200400" cy="4461163"/>
          </a:xfrm>
        </p:spPr>
        <p:txBody>
          <a:bodyPr>
            <a:normAutofit/>
          </a:bodyPr>
          <a:lstStyle/>
          <a:p>
            <a:r>
              <a:rPr lang="en-US">
                <a:solidFill>
                  <a:srgbClr val="FFFFFF"/>
                </a:solidFill>
              </a:rPr>
              <a:t>Some Future Progress?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23F078-DA3B-7E00-FD57-8814381FAB8C}"/>
              </a:ext>
            </a:extLst>
          </p:cNvPr>
          <p:cNvSpPr>
            <a:spLocks noGrp="1"/>
          </p:cNvSpPr>
          <p:nvPr>
            <p:ph idx="1"/>
          </p:nvPr>
        </p:nvSpPr>
        <p:spPr>
          <a:xfrm>
            <a:off x="4447308" y="591344"/>
            <a:ext cx="6906491" cy="5585619"/>
          </a:xfrm>
        </p:spPr>
        <p:txBody>
          <a:bodyPr anchor="ctr">
            <a:normAutofit/>
          </a:bodyPr>
          <a:lstStyle/>
          <a:p>
            <a:r>
              <a:rPr lang="en-US" dirty="0"/>
              <a:t>The issue has not been fixed, but neural models experience it less.</a:t>
            </a:r>
          </a:p>
          <a:p>
            <a:pPr lvl="1"/>
            <a:r>
              <a:rPr lang="en-US" dirty="0"/>
              <a:t>Neutral models are hard to work with and adjust though</a:t>
            </a:r>
          </a:p>
          <a:p>
            <a:r>
              <a:rPr lang="en-US" dirty="0"/>
              <a:t>Post processing steps can emphasize language proficiency in translation while still making the work accessible.</a:t>
            </a:r>
          </a:p>
          <a:p>
            <a:r>
              <a:rPr lang="en-US" dirty="0"/>
              <a:t>I recognize that a lot of this is working around the issue, but it’s such a stubborn issue that sometimes that’s the direction you take.</a:t>
            </a:r>
          </a:p>
        </p:txBody>
      </p:sp>
    </p:spTree>
    <p:extLst>
      <p:ext uri="{BB962C8B-B14F-4D97-AF65-F5344CB8AC3E}">
        <p14:creationId xmlns:p14="http://schemas.microsoft.com/office/powerpoint/2010/main" val="3929139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8620B-6D14-BD16-C38B-5ABB0C2AB828}"/>
              </a:ext>
            </a:extLst>
          </p:cNvPr>
          <p:cNvSpPr>
            <a:spLocks noGrp="1"/>
          </p:cNvSpPr>
          <p:nvPr>
            <p:ph type="title"/>
          </p:nvPr>
        </p:nvSpPr>
        <p:spPr/>
        <p:txBody>
          <a:bodyPr/>
          <a:lstStyle/>
          <a:p>
            <a:r>
              <a:rPr lang="en-US" dirty="0"/>
              <a:t>Possible Future Implementations</a:t>
            </a:r>
          </a:p>
        </p:txBody>
      </p:sp>
      <p:sp>
        <p:nvSpPr>
          <p:cNvPr id="3" name="Content Placeholder 2">
            <a:extLst>
              <a:ext uri="{FF2B5EF4-FFF2-40B4-BE49-F238E27FC236}">
                <a16:creationId xmlns:a16="http://schemas.microsoft.com/office/drawing/2014/main" id="{3C5F427F-016E-EE15-1E33-DE8003855BE2}"/>
              </a:ext>
            </a:extLst>
          </p:cNvPr>
          <p:cNvSpPr>
            <a:spLocks noGrp="1"/>
          </p:cNvSpPr>
          <p:nvPr>
            <p:ph idx="1"/>
          </p:nvPr>
        </p:nvSpPr>
        <p:spPr/>
        <p:txBody>
          <a:bodyPr/>
          <a:lstStyle/>
          <a:p>
            <a:r>
              <a:rPr lang="en-US" dirty="0"/>
              <a:t>When the semester </a:t>
            </a:r>
            <a:r>
              <a:rPr lang="en-US" altLang="ja-JP" dirty="0"/>
              <a:t>started,</a:t>
            </a:r>
            <a:r>
              <a:rPr lang="en-US" dirty="0"/>
              <a:t> I planned to create a browser extension as a specialized tool to help translators, this post processing integration could serve as a useful extension to a similar piece of software.</a:t>
            </a:r>
          </a:p>
          <a:p>
            <a:r>
              <a:rPr lang="en-US" dirty="0"/>
              <a:t>The Demo &amp; Report will go over the hard practicality of my findings.</a:t>
            </a:r>
          </a:p>
        </p:txBody>
      </p:sp>
    </p:spTree>
    <p:extLst>
      <p:ext uri="{BB962C8B-B14F-4D97-AF65-F5344CB8AC3E}">
        <p14:creationId xmlns:p14="http://schemas.microsoft.com/office/powerpoint/2010/main" val="578675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755DF-1C80-548C-13B4-DDCD876A4030}"/>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a:solidFill>
                  <a:schemeClr val="tx1"/>
                </a:solidFill>
                <a:latin typeface="+mj-lt"/>
                <a:ea typeface="+mj-ea"/>
                <a:cs typeface="+mj-cs"/>
              </a:rPr>
              <a:t>Thank you for listening!</a:t>
            </a:r>
            <a:br>
              <a:rPr lang="en-US" sz="8000" kern="1200">
                <a:solidFill>
                  <a:schemeClr val="tx1"/>
                </a:solidFill>
                <a:latin typeface="+mj-lt"/>
                <a:ea typeface="+mj-ea"/>
                <a:cs typeface="+mj-cs"/>
              </a:rPr>
            </a:br>
            <a:r>
              <a:rPr lang="ja-JP" altLang="en-US" sz="8000" kern="1200">
                <a:solidFill>
                  <a:schemeClr val="tx1"/>
                </a:solidFill>
                <a:latin typeface="+mj-lt"/>
                <a:ea typeface="+mj-ea"/>
                <a:cs typeface="+mj-cs"/>
              </a:rPr>
              <a:t>きいてありがと！</a:t>
            </a:r>
            <a:endParaRPr lang="en-US" sz="8000" kern="1200">
              <a:solidFill>
                <a:schemeClr val="tx1"/>
              </a:solidFill>
              <a:latin typeface="+mj-lt"/>
              <a:ea typeface="+mj-ea"/>
              <a:cs typeface="+mj-cs"/>
            </a:endParaRP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765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1131</TotalTime>
  <Words>1068</Words>
  <Application>Microsoft Office PowerPoint</Application>
  <PresentationFormat>Widescreen</PresentationFormat>
  <Paragraphs>81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Addressing Broken Sentence Structure in Japanese -&gt; English Machine Translation</vt:lpstr>
      <vt:lpstr>The Problem</vt:lpstr>
      <vt:lpstr>But why?</vt:lpstr>
      <vt:lpstr>Why Japanese  -&gt; English?</vt:lpstr>
      <vt:lpstr>Why not use an LLM?</vt:lpstr>
      <vt:lpstr>What’s unique about my research?</vt:lpstr>
      <vt:lpstr>The Plan</vt:lpstr>
      <vt:lpstr>The Plan</vt:lpstr>
      <vt:lpstr>Why cut hyperparameter tuning?</vt:lpstr>
      <vt:lpstr>Downsides:</vt:lpstr>
      <vt:lpstr>Post-Processing</vt:lpstr>
      <vt:lpstr>Results?</vt:lpstr>
      <vt:lpstr>The Larger Problem</vt:lpstr>
      <vt:lpstr>Some Future Progress?</vt:lpstr>
      <vt:lpstr>Possible Future Implementations</vt:lpstr>
      <vt:lpstr>Thank you for listening! きいてありがと！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Rhys Cabot</dc:creator>
  <cp:lastModifiedBy>Rhys Cabot</cp:lastModifiedBy>
  <cp:revision>7</cp:revision>
  <dcterms:created xsi:type="dcterms:W3CDTF">2025-12-01T19:33:52Z</dcterms:created>
  <dcterms:modified xsi:type="dcterms:W3CDTF">2025-12-04T17:07:29Z</dcterms:modified>
</cp:coreProperties>
</file>